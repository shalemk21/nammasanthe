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2011680" cy="5486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658368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10B981"/>
                </a:solidFill>
                <a:latin typeface="Calibri"/>
              </a:defRPr>
            </a:pPr>
            <a:r>
              <a:t>FULL-STACK E-COMMERCE BLUEPRINT</a:t>
            </a:r>
          </a:p>
          <a:p>
            <a:pPr>
              <a:spcAft>
                <a:spcPts val="800"/>
              </a:spcAft>
              <a:defRPr sz="5400" b="1">
                <a:solidFill>
                  <a:srgbClr val="FFFFFF"/>
                </a:solidFill>
                <a:latin typeface="Georgia"/>
              </a:defRPr>
            </a:pPr>
            <a:r>
              <a:t>LocalLoop</a:t>
            </a:r>
          </a:p>
          <a:p>
            <a:pPr>
              <a:spcAft>
                <a:spcPts val="1400"/>
              </a:spcAft>
              <a:defRPr sz="2200" b="1">
                <a:solidFill>
                  <a:srgbClr val="6EE7B7"/>
                </a:solidFill>
                <a:latin typeface="Calibri"/>
              </a:defRPr>
            </a:pPr>
            <a:r>
              <a:t>Hyperlocal Digital Marketplace &amp; Merchant OS</a:t>
            </a:r>
          </a:p>
          <a:p>
            <a:pPr>
              <a:spcAft>
                <a:spcPts val="2000"/>
              </a:spcAft>
              <a:defRPr sz="1300">
                <a:solidFill>
                  <a:srgbClr val="94A3B8"/>
                </a:solidFill>
                <a:latin typeface="Calibri"/>
              </a:defRPr>
            </a:pPr>
            <a:r>
              <a:t>A production-grade, 3-role web application empowering local shops with digital storefronts, atomic inventory locks, delivery tracking, and automated return processing—while giving neighborhood shoppers smart price discovery within sub-hour radius.</a:t>
            </a:r>
          </a:p>
          <a:p>
            <a:pPr>
              <a:defRPr sz="1100" b="1">
                <a:solidFill>
                  <a:srgbClr val="FFFFFF"/>
                </a:solidFill>
                <a:latin typeface="Calibri"/>
              </a:defRPr>
            </a:pPr>
            <a:r>
              <a:t>React + Vite  •  Tailwind CSS  •  Node.js + Express  •  MongoDB + Mongoose  •  JWT RBAC  •  Recharts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89520" y="1371600"/>
            <a:ext cx="3870655" cy="1325880"/>
          </a:xfrm>
          <a:prstGeom prst="roundRect">
            <a:avLst/>
          </a:prstGeom>
          <a:solidFill>
            <a:srgbClr val="102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89520" y="1371600"/>
            <a:ext cx="109728" cy="13258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45552" y="1499616"/>
            <a:ext cx="347472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Calibri"/>
              </a:defRPr>
            </a:pPr>
            <a:r>
              <a:t>3 Role-Based Portals</a:t>
            </a:r>
          </a:p>
          <a:p>
            <a:pPr>
              <a:spcAft>
                <a:spcPts val="400"/>
              </a:spcAft>
              <a:defRPr sz="1100" b="1">
                <a:solidFill>
                  <a:srgbClr val="10B981"/>
                </a:solidFill>
                <a:latin typeface="Calibri"/>
              </a:defRPr>
            </a:pPr>
            <a:r>
              <a:t>Customer • Seller • Administrator</a:t>
            </a:r>
          </a:p>
          <a:p>
            <a:pPr>
              <a:defRPr sz="1000">
                <a:solidFill>
                  <a:srgbClr val="94A3B8"/>
                </a:solidFill>
                <a:latin typeface="Calibri"/>
              </a:defRPr>
            </a:pPr>
            <a:r>
              <a:t>Separate authenticated workflows with strict route middleware authorization and isolated datasets.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0" y="2880360"/>
            <a:ext cx="3870655" cy="1325880"/>
          </a:xfrm>
          <a:prstGeom prst="roundRect">
            <a:avLst/>
          </a:prstGeom>
          <a:solidFill>
            <a:srgbClr val="102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589520" y="2880360"/>
            <a:ext cx="109728" cy="132588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45552" y="3008376"/>
            <a:ext cx="347472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Calibri"/>
              </a:defRPr>
            </a:pPr>
            <a:r>
              <a:t>Atomic Inventory Engine</a:t>
            </a:r>
          </a:p>
          <a:p>
            <a:pPr>
              <a:spcAft>
                <a:spcPts val="400"/>
              </a:spcAft>
              <a:defRPr sz="1100" b="1">
                <a:solidFill>
                  <a:srgbClr val="0EA5E9"/>
                </a:solidFill>
                <a:latin typeface="Calibri"/>
              </a:defRPr>
            </a:pPr>
            <a:r>
              <a:t>Zero Double-Selling &amp; Concurrency Locks</a:t>
            </a:r>
          </a:p>
          <a:p>
            <a:pPr>
              <a:defRPr sz="1000">
                <a:solidFill>
                  <a:srgbClr val="94A3B8"/>
                </a:solidFill>
                <a:latin typeface="Calibri"/>
              </a:defRPr>
            </a:pPr>
            <a:r>
              <a:t>Automatic reservation on checkout, rollback on cancellation, and safe restoration upon approved return.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89520" y="4389120"/>
            <a:ext cx="3870655" cy="1325880"/>
          </a:xfrm>
          <a:prstGeom prst="roundRect">
            <a:avLst/>
          </a:prstGeom>
          <a:solidFill>
            <a:srgbClr val="102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589520" y="4389120"/>
            <a:ext cx="109728" cy="132588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45552" y="4517136"/>
            <a:ext cx="347472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Calibri"/>
              </a:defRPr>
            </a:pPr>
            <a:r>
              <a:t>Smart Hyperlocal Radar</a:t>
            </a:r>
          </a:p>
          <a:p>
            <a:pPr>
              <a:spcAft>
                <a:spcPts val="400"/>
              </a:spcAft>
              <a:defRPr sz="1100" b="1">
                <a:solidFill>
                  <a:srgbClr val="F59E0B"/>
                </a:solidFill>
                <a:latin typeface="Calibri"/>
              </a:defRPr>
            </a:pPr>
            <a:r>
              <a:t>4-Way Multi-Store Price Comparison</a:t>
            </a:r>
          </a:p>
          <a:p>
            <a:pPr>
              <a:defRPr sz="1000">
                <a:solidFill>
                  <a:srgbClr val="94A3B8"/>
                </a:solidFill>
                <a:latin typeface="Calibri"/>
              </a:defRPr>
            </a:pPr>
            <a:r>
              <a:t>Instant side-by-side comparison across 2–4 local shops comparing price, stock, delivery time &amp; return terms.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4190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Calibri"/>
              </a:defRPr>
            </a:pPr>
            <a:r>
              <a:t>LocalLoop  •  Hyperlocal Digital Marketplace Architecture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19088"/>
            <a:ext cx="4873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000">
                <a:solidFill>
                  <a:srgbClr val="94A3B8"/>
                </a:solidFill>
                <a:latin typeface="Calibri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1">
                <a:solidFill>
                  <a:srgbClr val="059669"/>
                </a:solidFill>
                <a:latin typeface="Calibri"/>
              </a:defRPr>
            </a:pPr>
            <a:r>
              <a:t>ROLE-BASED WORKFLOWS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Georgia"/>
              </a:defRPr>
            </a:pPr>
            <a:r>
              <a:t>Tri-Role Stakeholder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43584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Three decoupled dashboards protected by role-specific JWT authorization and isolated permission boundaries.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190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  <a:r>
              <a:t>LocalLoop  •  Hyperlocal Digital Marketplace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19088"/>
            <a:ext cx="4873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333756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737360"/>
            <a:ext cx="3337560" cy="77724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847088"/>
            <a:ext cx="28803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059669"/>
                </a:solidFill>
                <a:latin typeface="Calibri"/>
              </a:defRPr>
            </a:pPr>
            <a:r>
              <a:t>CUSTOMER PORTAL</a:t>
            </a:r>
          </a:p>
          <a:p>
            <a:pPr>
              <a:defRPr sz="1350" b="1">
                <a:solidFill>
                  <a:srgbClr val="0F172A"/>
                </a:solidFill>
                <a:latin typeface="Calibri"/>
              </a:defRPr>
            </a:pPr>
            <a:r>
              <a:t>Shopper &amp; Neighborhood Buyer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697480"/>
            <a:ext cx="288036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>
                <a:solidFill>
                  <a:srgbClr val="0F172A"/>
                </a:solidFill>
                <a:latin typeface="Calibri"/>
              </a:defRPr>
            </a:pPr>
            <a:r>
              <a:t>• Hyperlocal Discovery: Auto-detect location or enter postal code to find shops within delivery radius.</a:t>
            </a:r>
          </a:p>
          <a:p>
            <a:pPr>
              <a:spcAft>
                <a:spcPts val="700"/>
              </a:spcAft>
              <a:defRPr sz="1000">
                <a:solidFill>
                  <a:srgbClr val="0F172A"/>
                </a:solidFill>
                <a:latin typeface="Calibri"/>
              </a:defRPr>
            </a:pPr>
            <a:r>
              <a:t>• 4-Way Product Comparison: Compare 2–4 items across stores on price, stock, specs, and return windows.</a:t>
            </a:r>
          </a:p>
          <a:p>
            <a:pPr>
              <a:spcAft>
                <a:spcPts val="700"/>
              </a:spcAft>
              <a:defRPr sz="1000">
                <a:solidFill>
                  <a:srgbClr val="0F172A"/>
                </a:solidFill>
                <a:latin typeface="Calibri"/>
              </a:defRPr>
            </a:pPr>
            <a:r>
              <a:t>• Cart &amp; Wishlist: Real-time price snapshotting, persistent cart, and seamless demo checkout.</a:t>
            </a:r>
          </a:p>
          <a:p>
            <a:pPr>
              <a:spcAft>
                <a:spcPts val="700"/>
              </a:spcAft>
              <a:defRPr sz="1000">
                <a:solidFill>
                  <a:srgbClr val="0F172A"/>
                </a:solidFill>
                <a:latin typeface="Calibri"/>
              </a:defRPr>
            </a:pPr>
            <a:r>
              <a:t>• Live Delivery Timeline: Visual status tracker from Placed to Out for Delivery and Delivered.</a:t>
            </a:r>
          </a:p>
          <a:p>
            <a:pPr>
              <a:spcAft>
                <a:spcPts val="700"/>
              </a:spcAft>
              <a:defRPr sz="1000">
                <a:solidFill>
                  <a:srgbClr val="0F172A"/>
                </a:solidFill>
                <a:latin typeface="Calibri"/>
              </a:defRPr>
            </a:pPr>
            <a:r>
              <a:t>• Returns &amp; Dispute Center: Submit return requests with photographic proof and track refund stages.</a:t>
            </a:r>
          </a:p>
          <a:p>
            <a:pPr>
              <a:spcAft>
                <a:spcPts val="700"/>
              </a:spcAft>
              <a:defRPr sz="1000">
                <a:solidFill>
                  <a:srgbClr val="0F172A"/>
                </a:solidFill>
                <a:latin typeface="Calibri"/>
              </a:defRPr>
            </a:pPr>
            <a:r>
              <a:t>• Ratings &amp; Trust: Review verified delivered orders and view personalized recommendations.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25696" y="1737360"/>
            <a:ext cx="333756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25696" y="1737360"/>
            <a:ext cx="3337560" cy="7772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54296" y="1847088"/>
            <a:ext cx="28803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4F46E5"/>
                </a:solidFill>
                <a:latin typeface="Calibri"/>
              </a:defRPr>
            </a:pPr>
            <a:r>
              <a:t>SELLER PORTAL</a:t>
            </a:r>
          </a:p>
          <a:p>
            <a:pPr>
              <a:defRPr sz="1350" b="1">
                <a:solidFill>
                  <a:srgbClr val="0F172A"/>
                </a:solidFill>
                <a:latin typeface="Calibri"/>
              </a:defRPr>
            </a:pPr>
            <a:r>
              <a:t>Local Merchant &amp; Storefront Studio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54296" y="2697480"/>
            <a:ext cx="288036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>
                <a:solidFill>
                  <a:srgbClr val="0F172A"/>
                </a:solidFill>
                <a:latin typeface="Calibri"/>
              </a:defRPr>
            </a:pPr>
            <a:r>
              <a:t>• Shop Onboarding: Submit shop details, logo, hours, and delivery zone for admin verification.</a:t>
            </a:r>
          </a:p>
          <a:p>
            <a:pPr>
              <a:spcAft>
                <a:spcPts val="700"/>
              </a:spcAft>
              <a:defRPr sz="1000">
                <a:solidFill>
                  <a:srgbClr val="0F172A"/>
                </a:solidFill>
                <a:latin typeface="Calibri"/>
              </a:defRPr>
            </a:pPr>
            <a:r>
              <a:t>• Product &amp; Stock Catalog: Smartphone camera upload, instant stock toggle, and low-stock alerts (&lt; 3 units).</a:t>
            </a:r>
          </a:p>
          <a:p>
            <a:pPr>
              <a:spcAft>
                <a:spcPts val="700"/>
              </a:spcAft>
              <a:defRPr sz="1000">
                <a:solidFill>
                  <a:srgbClr val="0F172A"/>
                </a:solidFill>
                <a:latin typeface="Calibri"/>
              </a:defRPr>
            </a:pPr>
            <a:r>
              <a:t>• Order Execution: Real-time order alerts, one-tap Accept/Reject with reason, and fulfillment stepper.</a:t>
            </a:r>
          </a:p>
          <a:p>
            <a:pPr>
              <a:spcAft>
                <a:spcPts val="700"/>
              </a:spcAft>
              <a:defRPr sz="1000">
                <a:solidFill>
                  <a:srgbClr val="0F172A"/>
                </a:solidFill>
                <a:latin typeface="Calibri"/>
              </a:defRPr>
            </a:pPr>
            <a:r>
              <a:t>• Return Management: Review customer return requests with photo evidence; approve or reject with notes.</a:t>
            </a:r>
          </a:p>
          <a:p>
            <a:pPr>
              <a:spcAft>
                <a:spcPts val="700"/>
              </a:spcAft>
              <a:defRPr sz="1000">
                <a:solidFill>
                  <a:srgbClr val="0F172A"/>
                </a:solidFill>
                <a:latin typeface="Calibri"/>
              </a:defRPr>
            </a:pPr>
            <a:r>
              <a:t>• Inventory Auto-Sync: Stock auto-decrements on order and auto-restores on cancellation/approved return.</a:t>
            </a:r>
          </a:p>
          <a:p>
            <a:pPr>
              <a:spcAft>
                <a:spcPts val="700"/>
              </a:spcAft>
              <a:defRPr sz="1000">
                <a:solidFill>
                  <a:srgbClr val="0F172A"/>
                </a:solidFill>
                <a:latin typeface="Calibri"/>
              </a:defRPr>
            </a:pPr>
            <a:r>
              <a:t>• Recharts Analytics: Daily/weekly sales curves, top selling items, and cancellation/return rates.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19872" y="1737360"/>
            <a:ext cx="333756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19872" y="1737360"/>
            <a:ext cx="3337560" cy="77724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48472" y="1847088"/>
            <a:ext cx="28803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F59E0B"/>
                </a:solidFill>
                <a:latin typeface="Calibri"/>
              </a:defRPr>
            </a:pPr>
            <a:r>
              <a:t>ADMINISTRATOR PORTAL</a:t>
            </a:r>
          </a:p>
          <a:p>
            <a:pPr>
              <a:defRPr sz="1350" b="1">
                <a:solidFill>
                  <a:srgbClr val="0F172A"/>
                </a:solidFill>
                <a:latin typeface="Calibri"/>
              </a:defRPr>
            </a:pPr>
            <a:r>
              <a:t>Platform Governance &amp; Trust Authority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48472" y="2697480"/>
            <a:ext cx="288036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000">
                <a:solidFill>
                  <a:srgbClr val="0F172A"/>
                </a:solidFill>
                <a:latin typeface="Calibri"/>
              </a:defRPr>
            </a:pPr>
            <a:r>
              <a:t>• Marketplace Governance: Verify, approve, suspend, or reject merchant storefront applications.</a:t>
            </a:r>
          </a:p>
          <a:p>
            <a:pPr>
              <a:spcAft>
                <a:spcPts val="700"/>
              </a:spcAft>
              <a:defRPr sz="1000">
                <a:solidFill>
                  <a:srgbClr val="0F172A"/>
                </a:solidFill>
                <a:latin typeface="Calibri"/>
              </a:defRPr>
            </a:pPr>
            <a:r>
              <a:t>• Dispute Arbitration: Neutral escalation resolution for contested returns, refunds, and cancellations.</a:t>
            </a:r>
          </a:p>
          <a:p>
            <a:pPr>
              <a:spcAft>
                <a:spcPts val="700"/>
              </a:spcAft>
              <a:defRPr sz="1000">
                <a:solidFill>
                  <a:srgbClr val="0F172A"/>
                </a:solidFill>
                <a:latin typeface="Calibri"/>
              </a:defRPr>
            </a:pPr>
            <a:r>
              <a:t>• Catalog Moderation: Review flagged products, delete fraudulent listings, and manage categories.</a:t>
            </a:r>
          </a:p>
          <a:p>
            <a:pPr>
              <a:spcAft>
                <a:spcPts val="700"/>
              </a:spcAft>
              <a:defRPr sz="1000">
                <a:solidFill>
                  <a:srgbClr val="0F172A"/>
                </a:solidFill>
                <a:latin typeface="Calibri"/>
              </a:defRPr>
            </a:pPr>
            <a:r>
              <a:t>• Financial Audit &amp; Metrics: Platform-wide transaction volumes, completed orders, and GMV reports.</a:t>
            </a:r>
          </a:p>
          <a:p>
            <a:pPr>
              <a:spcAft>
                <a:spcPts val="700"/>
              </a:spcAft>
              <a:defRPr sz="1000">
                <a:solidFill>
                  <a:srgbClr val="0F172A"/>
                </a:solidFill>
                <a:latin typeface="Calibri"/>
              </a:defRPr>
            </a:pPr>
            <a:r>
              <a:t>• Policy &amp; Banners: Configure marketplace return rules, platform commissions, and promotional alerts.</a:t>
            </a:r>
          </a:p>
          <a:p>
            <a:pPr>
              <a:spcAft>
                <a:spcPts val="700"/>
              </a:spcAft>
              <a:defRPr sz="1000">
                <a:solidFill>
                  <a:srgbClr val="0F172A"/>
                </a:solidFill>
                <a:latin typeface="Calibri"/>
              </a:defRPr>
            </a:pPr>
            <a:r>
              <a:t>• Security Auditing: User management, privilege monitoring, and suspicious activity logs.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1">
                <a:solidFill>
                  <a:srgbClr val="059669"/>
                </a:solidFill>
                <a:latin typeface="Calibri"/>
              </a:defRPr>
            </a:pPr>
            <a:r>
              <a:t>DISCOVERY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Georgia"/>
              </a:defRPr>
            </a:pPr>
            <a:r>
              <a:t>Hyperlocal Spatial Matching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43584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Transparent location-based querying with strict no-hallucination policies and graceful fallback modes.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190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  <a:r>
              <a:t>LocalLoop  •  Hyperlocal Digital Marketplace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19088"/>
            <a:ext cx="4873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516636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057400"/>
            <a:ext cx="4526280" cy="3749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059669"/>
                </a:solidFill>
                <a:latin typeface="Calibri"/>
              </a:defRPr>
            </a:pPr>
            <a:r>
              <a:t>GPS Coordinate &amp; Radius Engine</a:t>
            </a:r>
          </a:p>
          <a:p>
            <a:pPr>
              <a:defRPr sz="1100" b="1">
                <a:solidFill>
                  <a:srgbClr val="0F172A"/>
                </a:solidFill>
                <a:latin typeface="Calibri"/>
              </a:defRPr>
            </a:pPr>
            <a:r>
              <a:t>▸ Browser Geolocation API: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  <a:latin typeface="Calibri"/>
              </a:defRPr>
            </a:pPr>
            <a:r>
              <a:t>   Detects latitude &amp; longitude automatically with high accuracy on mobile and desktop.</a:t>
            </a:r>
          </a:p>
          <a:p>
            <a:pPr>
              <a:defRPr sz="1100" b="1">
                <a:solidFill>
                  <a:srgbClr val="0F172A"/>
                </a:solidFill>
                <a:latin typeface="Calibri"/>
              </a:defRPr>
            </a:pPr>
            <a:r>
              <a:t>▸ Manual Locality / Postal Fallback: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  <a:latin typeface="Calibri"/>
              </a:defRPr>
            </a:pPr>
            <a:r>
              <a:t>   If permission is denied, customers seamlessly enter postal code or select neighborhood locality.</a:t>
            </a:r>
          </a:p>
          <a:p>
            <a:pPr>
              <a:defRPr sz="1100" b="1">
                <a:solidFill>
                  <a:srgbClr val="0F172A"/>
                </a:solidFill>
                <a:latin typeface="Calibri"/>
              </a:defRPr>
            </a:pPr>
            <a:r>
              <a:t>▸ Haversine / MongoDB 2dsphere: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  <a:latin typeface="Calibri"/>
              </a:defRPr>
            </a:pPr>
            <a:r>
              <a:t>   Calculates verified real-world distance in kilometers between customer and registered merchant coordinates.</a:t>
            </a:r>
          </a:p>
          <a:p>
            <a:pPr>
              <a:defRPr sz="1100" b="1">
                <a:solidFill>
                  <a:srgbClr val="0F172A"/>
                </a:solidFill>
                <a:latin typeface="Calibri"/>
              </a:defRPr>
            </a:pPr>
            <a:r>
              <a:t>▸ No Invented Distances Guarantee: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  <a:latin typeface="Calibri"/>
              </a:defRPr>
            </a:pPr>
            <a:r>
              <a:t>   When delivery data or coordinates are absent, UI clearly marks 'Distance unavailable' rather than generating mock metrics.</a:t>
            </a:r>
          </a:p>
          <a:p>
            <a:pPr>
              <a:defRPr sz="1100" b="1">
                <a:solidFill>
                  <a:srgbClr val="0F172A"/>
                </a:solidFill>
                <a:latin typeface="Calibri"/>
              </a:defRPr>
            </a:pPr>
            <a:r>
              <a:t>▸ Store Operating Hours Filter: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  <a:latin typeface="Calibri"/>
              </a:defRPr>
            </a:pPr>
            <a:r>
              <a:t>   Real-time verification of opening/closing times; closed shops clearly flagged to avoid failed orders.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1737360"/>
            <a:ext cx="516636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11112" y="2057400"/>
            <a:ext cx="4526280" cy="3749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4F46E5"/>
                </a:solidFill>
                <a:latin typeface="Calibri"/>
              </a:defRPr>
            </a:pPr>
            <a:r>
              <a:t>Multi-Parameter Search &amp; Discovery Pipeline</a:t>
            </a:r>
          </a:p>
          <a:p>
            <a:pPr>
              <a:defRPr sz="1100" b="1">
                <a:solidFill>
                  <a:srgbClr val="0F172A"/>
                </a:solidFill>
                <a:latin typeface="Calibri"/>
              </a:defRPr>
            </a:pPr>
            <a:r>
              <a:t>▸ Category &amp; Subcategory Hierarchy: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  <a:latin typeface="Calibri"/>
              </a:defRPr>
            </a:pPr>
            <a:r>
              <a:t>   Granular taxonomy indexing groceries, fresh produce, pharmacy, bakery, stationery, and hardware.</a:t>
            </a:r>
          </a:p>
          <a:p>
            <a:pPr>
              <a:defRPr sz="1100" b="1">
                <a:solidFill>
                  <a:srgbClr val="0F172A"/>
                </a:solidFill>
                <a:latin typeface="Calibri"/>
              </a:defRPr>
            </a:pPr>
            <a:r>
              <a:t>▸ Live Availability Filter: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  <a:latin typeface="Calibri"/>
              </a:defRPr>
            </a:pPr>
            <a:r>
              <a:t>   Instant toggle to hide out-of-stock items, preventing disappointed shoppers.</a:t>
            </a:r>
          </a:p>
          <a:p>
            <a:pPr>
              <a:defRPr sz="1100" b="1">
                <a:solidFill>
                  <a:srgbClr val="0F172A"/>
                </a:solidFill>
                <a:latin typeface="Calibri"/>
              </a:defRPr>
            </a:pPr>
            <a:r>
              <a:t>▸ Smart Sorting Engine: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  <a:latin typeface="Calibri"/>
              </a:defRPr>
            </a:pPr>
            <a:r>
              <a:t>   Sort dynamically by Nearest Distance, Lowest Price, Highest Customer Rating, or Fastest Delivery ETA.</a:t>
            </a:r>
          </a:p>
          <a:p>
            <a:pPr>
              <a:defRPr sz="1100" b="1">
                <a:solidFill>
                  <a:srgbClr val="0F172A"/>
                </a:solidFill>
                <a:latin typeface="Calibri"/>
              </a:defRPr>
            </a:pPr>
            <a:r>
              <a:t>▸ Personalized Recommendations: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  <a:latin typeface="Calibri"/>
              </a:defRPr>
            </a:pPr>
            <a:r>
              <a:t>   Active buyers receive recommendations based on recent browsing categories and purchase history.</a:t>
            </a:r>
          </a:p>
          <a:p>
            <a:pPr>
              <a:defRPr sz="1100" b="1">
                <a:solidFill>
                  <a:srgbClr val="0F172A"/>
                </a:solidFill>
                <a:latin typeface="Calibri"/>
              </a:defRPr>
            </a:pPr>
            <a:r>
              <a:t>▸ Cold-Start Strategy:</a:t>
            </a:r>
          </a:p>
          <a:p>
            <a:pPr>
              <a:spcAft>
                <a:spcPts val="600"/>
              </a:spcAft>
              <a:defRPr sz="1050">
                <a:solidFill>
                  <a:srgbClr val="64748B"/>
                </a:solidFill>
                <a:latin typeface="Calibri"/>
              </a:defRPr>
            </a:pPr>
            <a:r>
              <a:t>   New visitors without purchase history see neighborhood trending best-sellers and verified top-rated merchants.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1">
                <a:solidFill>
                  <a:srgbClr val="059669"/>
                </a:solidFill>
                <a:latin typeface="Calibri"/>
              </a:defRPr>
            </a:pPr>
            <a:r>
              <a:t>EXCLUSIVE 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Georgia"/>
              </a:defRPr>
            </a:pPr>
            <a:r>
              <a:t>Smart 4-Way Multi-Seller Comparison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43584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Empowering shoppers to select 2 to 4 competing products across local merchants side-by-side with automatic best-price tagging.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190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  <a:r>
              <a:t>LocalLoop  •  Hyperlocal Digital Marketplace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19088"/>
            <a:ext cx="4873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10728655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1965960"/>
            <a:ext cx="2194560" cy="548640"/>
          </a:xfrm>
          <a:prstGeom prst="roundRect">
            <a:avLst/>
          </a:prstGeom>
          <a:solidFill>
            <a:srgbClr val="F4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057400"/>
            <a:ext cx="219456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150" b="1">
                <a:solidFill>
                  <a:srgbClr val="0F172A"/>
                </a:solidFill>
                <a:latin typeface="Calibri"/>
              </a:defRPr>
            </a:pPr>
            <a:r>
              <a:t>Comparison Criteria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1965960"/>
            <a:ext cx="2651760" cy="548640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1840" y="2057400"/>
            <a:ext cx="265176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150" b="1">
                <a:solidFill>
                  <a:srgbClr val="059669"/>
                </a:solidFill>
                <a:latin typeface="Calibri"/>
              </a:defRPr>
            </a:pPr>
            <a:r>
              <a:t>Kavita Supermart (Best Price ★)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965960"/>
            <a:ext cx="2651760" cy="54864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0" y="2057400"/>
            <a:ext cx="265176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150" b="1">
                <a:solidFill>
                  <a:srgbClr val="4F46E5"/>
                </a:solidFill>
                <a:latin typeface="Calibri"/>
              </a:defRPr>
            </a:pPr>
            <a:r>
              <a:t>City Fresh Express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20" y="1965960"/>
            <a:ext cx="2377440" cy="548640"/>
          </a:xfrm>
          <a:prstGeom prst="roundRect">
            <a:avLst/>
          </a:prstGeom>
          <a:solidFill>
            <a:srgbClr val="F4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0" y="2057400"/>
            <a:ext cx="23774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150" b="1">
                <a:solidFill>
                  <a:srgbClr val="0F172A"/>
                </a:solidFill>
                <a:latin typeface="Calibri"/>
              </a:defRPr>
            </a:pPr>
            <a:r>
              <a:t>Apollo Corner Store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2679192"/>
            <a:ext cx="219456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050" b="1">
                <a:solidFill>
                  <a:srgbClr val="0F172A"/>
                </a:solidFill>
                <a:latin typeface="Calibri"/>
              </a:defRPr>
            </a:pPr>
            <a:r>
              <a:t>Product Unit Price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2679192"/>
            <a:ext cx="265176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050" b="1">
                <a:solidFill>
                  <a:srgbClr val="059669"/>
                </a:solidFill>
                <a:latin typeface="Calibri"/>
              </a:defRPr>
            </a:pPr>
            <a:r>
              <a:t>₹64.00 (Best Price Tagged)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2679192"/>
            <a:ext cx="265176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050">
                <a:solidFill>
                  <a:srgbClr val="64748B"/>
                </a:solidFill>
                <a:latin typeface="Calibri"/>
              </a:defRPr>
            </a:pPr>
            <a:r>
              <a:t>₹68.00 (Standard)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0" y="2679192"/>
            <a:ext cx="237744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050">
                <a:solidFill>
                  <a:srgbClr val="64748B"/>
                </a:solidFill>
                <a:latin typeface="Calibri"/>
              </a:defRPr>
            </a:pPr>
            <a:r>
              <a:t>₹70.00 (Premium Pack)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68680" y="3072384"/>
            <a:ext cx="10454335" cy="43891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3145536"/>
            <a:ext cx="219456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050" b="1">
                <a:solidFill>
                  <a:srgbClr val="0F172A"/>
                </a:solidFill>
                <a:latin typeface="Calibri"/>
              </a:defRPr>
            </a:pPr>
            <a:r>
              <a:t>Store Distance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91840" y="3145536"/>
            <a:ext cx="265176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050" b="1">
                <a:solidFill>
                  <a:srgbClr val="059669"/>
                </a:solidFill>
                <a:latin typeface="Calibri"/>
              </a:defRPr>
            </a:pPr>
            <a:r>
              <a:t>0.6 km (5 min walk)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3145536"/>
            <a:ext cx="265176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050">
                <a:solidFill>
                  <a:srgbClr val="64748B"/>
                </a:solidFill>
                <a:latin typeface="Calibri"/>
              </a:defRPr>
            </a:pPr>
            <a:r>
              <a:t>1.8 km (12 min bike)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0" y="3145536"/>
            <a:ext cx="237744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050">
                <a:solidFill>
                  <a:srgbClr val="64748B"/>
                </a:solidFill>
                <a:latin typeface="Calibri"/>
              </a:defRPr>
            </a:pPr>
            <a:r>
              <a:t>2.4 km (18 min drive)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3611880"/>
            <a:ext cx="219456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050" b="1">
                <a:solidFill>
                  <a:srgbClr val="0F172A"/>
                </a:solidFill>
                <a:latin typeface="Calibri"/>
              </a:defRPr>
            </a:pPr>
            <a:r>
              <a:t>Stock Availability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91840" y="3611880"/>
            <a:ext cx="265176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050" b="1">
                <a:solidFill>
                  <a:srgbClr val="059669"/>
                </a:solidFill>
                <a:latin typeface="Calibri"/>
              </a:defRPr>
            </a:pPr>
            <a:r>
              <a:t>28 units available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0" y="3611880"/>
            <a:ext cx="265176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050">
                <a:solidFill>
                  <a:srgbClr val="64748B"/>
                </a:solidFill>
                <a:latin typeface="Calibri"/>
              </a:defRPr>
            </a:pPr>
            <a:r>
              <a:t>12 units available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61120" y="3611880"/>
            <a:ext cx="237744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050">
                <a:solidFill>
                  <a:srgbClr val="64748B"/>
                </a:solidFill>
                <a:latin typeface="Calibri"/>
              </a:defRPr>
            </a:pPr>
            <a:r>
              <a:t>4 units left (Low Stock)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68680" y="4005072"/>
            <a:ext cx="10454335" cy="43891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4078224"/>
            <a:ext cx="219456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050" b="1">
                <a:solidFill>
                  <a:srgbClr val="0F172A"/>
                </a:solidFill>
                <a:latin typeface="Calibri"/>
              </a:defRPr>
            </a:pPr>
            <a:r>
              <a:t>Estimated Delivery ETA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91840" y="4078224"/>
            <a:ext cx="265176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050" b="1">
                <a:solidFill>
                  <a:srgbClr val="059669"/>
                </a:solidFill>
                <a:latin typeface="Calibri"/>
              </a:defRPr>
            </a:pPr>
            <a:r>
              <a:t>35 - 45 mins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26480" y="4078224"/>
            <a:ext cx="265176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050">
                <a:solidFill>
                  <a:srgbClr val="64748B"/>
                </a:solidFill>
                <a:latin typeface="Calibri"/>
              </a:defRPr>
            </a:pPr>
            <a:r>
              <a:t>45 - 60 mins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61120" y="4078224"/>
            <a:ext cx="237744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050">
                <a:solidFill>
                  <a:srgbClr val="64748B"/>
                </a:solidFill>
                <a:latin typeface="Calibri"/>
              </a:defRPr>
            </a:pPr>
            <a:r>
              <a:t>Within 2 hours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4544568"/>
            <a:ext cx="219456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050" b="1">
                <a:solidFill>
                  <a:srgbClr val="0F172A"/>
                </a:solidFill>
                <a:latin typeface="Calibri"/>
              </a:defRPr>
            </a:pPr>
            <a:r>
              <a:t>Return Policy Window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91840" y="4544568"/>
            <a:ext cx="265176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050" b="1">
                <a:solidFill>
                  <a:srgbClr val="059669"/>
                </a:solidFill>
                <a:latin typeface="Calibri"/>
              </a:defRPr>
            </a:pPr>
            <a:r>
              <a:t>48 Hours (No questions)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26480" y="4544568"/>
            <a:ext cx="265176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050">
                <a:solidFill>
                  <a:srgbClr val="64748B"/>
                </a:solidFill>
                <a:latin typeface="Calibri"/>
              </a:defRPr>
            </a:pPr>
            <a:r>
              <a:t>24 Hours (Defects only)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61120" y="4544568"/>
            <a:ext cx="237744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050">
                <a:solidFill>
                  <a:srgbClr val="64748B"/>
                </a:solidFill>
                <a:latin typeface="Calibri"/>
              </a:defRPr>
            </a:pPr>
            <a:r>
              <a:t>No Returns on Dairy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68680" y="4937760"/>
            <a:ext cx="10454335" cy="43891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5010912"/>
            <a:ext cx="219456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050" b="1">
                <a:solidFill>
                  <a:srgbClr val="0F172A"/>
                </a:solidFill>
                <a:latin typeface="Calibri"/>
              </a:defRPr>
            </a:pPr>
            <a:r>
              <a:t>Merchant Customer Rating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91840" y="5010912"/>
            <a:ext cx="265176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050" b="1">
                <a:solidFill>
                  <a:srgbClr val="059669"/>
                </a:solidFill>
                <a:latin typeface="Calibri"/>
              </a:defRPr>
            </a:pPr>
            <a:r>
              <a:t>★ 4.8 / 5.0 (142 reviews)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26480" y="5010912"/>
            <a:ext cx="265176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050">
                <a:solidFill>
                  <a:srgbClr val="64748B"/>
                </a:solidFill>
                <a:latin typeface="Calibri"/>
              </a:defRPr>
            </a:pPr>
            <a:r>
              <a:t>★ 4.5 / 5.0 (89 reviews)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61120" y="5010912"/>
            <a:ext cx="237744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050">
                <a:solidFill>
                  <a:srgbClr val="64748B"/>
                </a:solidFill>
                <a:latin typeface="Calibri"/>
              </a:defRPr>
            </a:pPr>
            <a:r>
              <a:t>★ 4.2 / 5.0 (64 reviews)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5477256"/>
            <a:ext cx="219456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050" b="1">
                <a:solidFill>
                  <a:srgbClr val="0F172A"/>
                </a:solidFill>
                <a:latin typeface="Calibri"/>
              </a:defRPr>
            </a:pPr>
            <a:r>
              <a:t>Fulfillment Options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291840" y="5477256"/>
            <a:ext cx="265176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050" b="1">
                <a:solidFill>
                  <a:srgbClr val="059669"/>
                </a:solidFill>
                <a:latin typeface="Calibri"/>
              </a:defRPr>
            </a:pPr>
            <a:r>
              <a:t>Store Pickup + Doorstep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26480" y="5477256"/>
            <a:ext cx="265176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050">
                <a:solidFill>
                  <a:srgbClr val="64748B"/>
                </a:solidFill>
                <a:latin typeface="Calibri"/>
              </a:defRPr>
            </a:pPr>
            <a:r>
              <a:t>Doorstep Delivery Only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961120" y="5477256"/>
            <a:ext cx="237744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050">
                <a:solidFill>
                  <a:srgbClr val="64748B"/>
                </a:solidFill>
                <a:latin typeface="Calibri"/>
              </a:defRPr>
            </a:pPr>
            <a:r>
              <a:t>Store Pickup Preferred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1">
                <a:solidFill>
                  <a:srgbClr val="059669"/>
                </a:solidFill>
                <a:latin typeface="Calibri"/>
              </a:defRPr>
            </a:pPr>
            <a:r>
              <a:t>WORKFLOW INTEGRITY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Georgia"/>
              </a:defRPr>
            </a:pPr>
            <a:r>
              <a:t>Dual State Machines: Fulfillment &amp; Returns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43584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Predictable lifecycle state transitions ensuring data consistency across inventory, order logs, and refund balances.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190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  <a:r>
              <a:t>LocalLoop  •  Hyperlocal Digital Marketplace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19088"/>
            <a:ext cx="4873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10728655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874519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59669"/>
                </a:solidFill>
                <a:latin typeface="Calibri"/>
              </a:defRPr>
            </a:pPr>
            <a:r>
              <a:t>1. Order Fulfillment State Machine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331720"/>
            <a:ext cx="1536192" cy="868680"/>
          </a:xfrm>
          <a:prstGeom prst="roundRect">
            <a:avLst/>
          </a:prstGeom>
          <a:solidFill>
            <a:srgbClr val="102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423160"/>
            <a:ext cx="153619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Calibri"/>
              </a:defRPr>
            </a:pPr>
            <a:r>
              <a:t>1. Placed</a:t>
            </a:r>
          </a:p>
          <a:p>
            <a:pPr algn="ctr">
              <a:defRPr sz="900">
                <a:solidFill>
                  <a:srgbClr val="DCE6F0"/>
                </a:solidFill>
                <a:latin typeface="Calibri"/>
              </a:defRPr>
            </a:pPr>
            <a:r>
              <a:t>Stock reserved atomically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50592" y="2542032"/>
            <a:ext cx="1828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400" b="1">
                <a:solidFill>
                  <a:srgbClr val="059669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33472" y="2331720"/>
            <a:ext cx="1536192" cy="868680"/>
          </a:xfrm>
          <a:prstGeom prst="round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33472" y="2423160"/>
            <a:ext cx="153619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Calibri"/>
              </a:defRPr>
            </a:pPr>
            <a:r>
              <a:t>2. Confirmed</a:t>
            </a:r>
          </a:p>
          <a:p>
            <a:pPr algn="ctr">
              <a:defRPr sz="900">
                <a:solidFill>
                  <a:srgbClr val="DCE6F0"/>
                </a:solidFill>
                <a:latin typeface="Calibri"/>
              </a:defRPr>
            </a:pPr>
            <a:r>
              <a:t>Seller accepts order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69664" y="2542032"/>
            <a:ext cx="1828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400" b="1">
                <a:solidFill>
                  <a:srgbClr val="059669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52544" y="2331720"/>
            <a:ext cx="1536192" cy="86868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52544" y="2423160"/>
            <a:ext cx="153619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Calibri"/>
              </a:defRPr>
            </a:pPr>
            <a:r>
              <a:t>3. Processing</a:t>
            </a:r>
          </a:p>
          <a:p>
            <a:pPr algn="ctr">
              <a:defRPr sz="900">
                <a:solidFill>
                  <a:srgbClr val="DCE6F0"/>
                </a:solidFill>
                <a:latin typeface="Calibri"/>
              </a:defRPr>
            </a:pPr>
            <a:r>
              <a:t>Item picked &amp; verified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88736" y="2542032"/>
            <a:ext cx="1828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400" b="1">
                <a:solidFill>
                  <a:srgbClr val="059669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71616" y="2331720"/>
            <a:ext cx="1536192" cy="86868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71616" y="2423160"/>
            <a:ext cx="153619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Calibri"/>
              </a:defRPr>
            </a:pPr>
            <a:r>
              <a:t>4. Packed</a:t>
            </a:r>
          </a:p>
          <a:p>
            <a:pPr algn="ctr">
              <a:defRPr sz="900">
                <a:solidFill>
                  <a:srgbClr val="DCE6F0"/>
                </a:solidFill>
                <a:latin typeface="Calibri"/>
              </a:defRPr>
            </a:pPr>
            <a:r>
              <a:t>Ready for dispatch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07808" y="2542032"/>
            <a:ext cx="1828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400" b="1">
                <a:solidFill>
                  <a:srgbClr val="059669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90688" y="2331720"/>
            <a:ext cx="1536192" cy="86868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90688" y="2423160"/>
            <a:ext cx="153619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Calibri"/>
              </a:defRPr>
            </a:pPr>
            <a:r>
              <a:t>5. Out for Delivery</a:t>
            </a:r>
          </a:p>
          <a:p>
            <a:pPr algn="ctr">
              <a:defRPr sz="900">
                <a:solidFill>
                  <a:srgbClr val="DCE6F0"/>
                </a:solidFill>
                <a:latin typeface="Calibri"/>
              </a:defRPr>
            </a:pPr>
            <a:r>
              <a:t>Courier / pickup trip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0" y="2542032"/>
            <a:ext cx="1828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400" b="1">
                <a:solidFill>
                  <a:srgbClr val="059669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09760" y="2331720"/>
            <a:ext cx="1536192" cy="86868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09760" y="2423160"/>
            <a:ext cx="153619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Calibri"/>
              </a:defRPr>
            </a:pPr>
            <a:r>
              <a:t>6. Delivered</a:t>
            </a:r>
          </a:p>
          <a:p>
            <a:pPr algn="ctr">
              <a:defRPr sz="900">
                <a:solidFill>
                  <a:srgbClr val="DCE6F0"/>
                </a:solidFill>
                <a:latin typeface="Calibri"/>
              </a:defRPr>
            </a:pPr>
            <a:r>
              <a:t>Receipt confirmed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3310128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EF4444"/>
                </a:solidFill>
                <a:latin typeface="Calibri"/>
              </a:defRPr>
            </a:pPr>
            <a:r>
              <a:t>Cancellation Branch: Customer cancels eligible order before 'Packed' → Inventory auto-restored immediately → Order marked 'Cancelled'.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3977639"/>
            <a:ext cx="10728655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" y="411480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F46E5"/>
                </a:solidFill>
                <a:latin typeface="Calibri"/>
              </a:defRPr>
            </a:pPr>
            <a:r>
              <a:t>2. Returns, Photo Evidence &amp; Refund Escalation State Machine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4400" y="4526280"/>
            <a:ext cx="1536192" cy="8686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4617720"/>
            <a:ext cx="153619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50" b="1">
                <a:solidFill>
                  <a:srgbClr val="0F172A"/>
                </a:solidFill>
                <a:latin typeface="Calibri"/>
              </a:defRPr>
            </a:pPr>
            <a:r>
              <a:t>1. Return Requested</a:t>
            </a:r>
          </a:p>
          <a:p>
            <a:pPr algn="ctr">
              <a:defRPr sz="850">
                <a:solidFill>
                  <a:srgbClr val="64748B"/>
                </a:solidFill>
                <a:latin typeface="Calibri"/>
              </a:defRPr>
            </a:pPr>
            <a:r>
              <a:t>Reason + Image Evidence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50592" y="4736592"/>
            <a:ext cx="1828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400" b="1">
                <a:solidFill>
                  <a:srgbClr val="4F46E5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633472" y="4526280"/>
            <a:ext cx="1536192" cy="8686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633472" y="4617720"/>
            <a:ext cx="153619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50" b="1">
                <a:solidFill>
                  <a:srgbClr val="0F172A"/>
                </a:solidFill>
                <a:latin typeface="Calibri"/>
              </a:defRPr>
            </a:pPr>
            <a:r>
              <a:t>2. Seller Decision</a:t>
            </a:r>
          </a:p>
          <a:p>
            <a:pPr algn="ctr">
              <a:defRPr sz="850">
                <a:solidFill>
                  <a:srgbClr val="64748B"/>
                </a:solidFill>
                <a:latin typeface="Calibri"/>
              </a:defRPr>
            </a:pPr>
            <a:r>
              <a:t>Approved or Rejected with note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69664" y="4736592"/>
            <a:ext cx="1828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400" b="1">
                <a:solidFill>
                  <a:srgbClr val="4F46E5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352544" y="4526280"/>
            <a:ext cx="1536192" cy="8686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52544" y="4617720"/>
            <a:ext cx="153619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50" b="1">
                <a:solidFill>
                  <a:srgbClr val="0F172A"/>
                </a:solidFill>
                <a:latin typeface="Calibri"/>
              </a:defRPr>
            </a:pPr>
            <a:r>
              <a:t>3. Pickup Pending</a:t>
            </a:r>
          </a:p>
          <a:p>
            <a:pPr algn="ctr">
              <a:defRPr sz="850">
                <a:solidFill>
                  <a:srgbClr val="64748B"/>
                </a:solidFill>
                <a:latin typeface="Calibri"/>
              </a:defRPr>
            </a:pPr>
            <a:r>
              <a:t>Delivery courier assigned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88736" y="4736592"/>
            <a:ext cx="1828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400" b="1">
                <a:solidFill>
                  <a:srgbClr val="4F46E5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071616" y="4526280"/>
            <a:ext cx="1536192" cy="8686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071616" y="4617720"/>
            <a:ext cx="153619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50" b="1">
                <a:solidFill>
                  <a:srgbClr val="0F172A"/>
                </a:solidFill>
                <a:latin typeface="Calibri"/>
              </a:defRPr>
            </a:pPr>
            <a:r>
              <a:t>4. Item Returned</a:t>
            </a:r>
          </a:p>
          <a:p>
            <a:pPr algn="ctr">
              <a:defRPr sz="850">
                <a:solidFill>
                  <a:srgbClr val="64748B"/>
                </a:solidFill>
                <a:latin typeface="Calibri"/>
              </a:defRPr>
            </a:pPr>
            <a:r>
              <a:t>Physical inspection confirmed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07808" y="4736592"/>
            <a:ext cx="1828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400" b="1">
                <a:solidFill>
                  <a:srgbClr val="4F46E5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790688" y="4526280"/>
            <a:ext cx="1536192" cy="8686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790688" y="4617720"/>
            <a:ext cx="153619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50" b="1">
                <a:solidFill>
                  <a:srgbClr val="0F172A"/>
                </a:solidFill>
                <a:latin typeface="Calibri"/>
              </a:defRPr>
            </a:pPr>
            <a:r>
              <a:t>5. Refund Processing</a:t>
            </a:r>
          </a:p>
          <a:p>
            <a:pPr algn="ctr">
              <a:defRPr sz="850">
                <a:solidFill>
                  <a:srgbClr val="64748B"/>
                </a:solidFill>
                <a:latin typeface="Calibri"/>
              </a:defRPr>
            </a:pPr>
            <a:r>
              <a:t>Audit log &amp; transaction recorded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0" y="4736592"/>
            <a:ext cx="18288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400" b="1">
                <a:solidFill>
                  <a:srgbClr val="4F46E5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509760" y="4526280"/>
            <a:ext cx="1536192" cy="8686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509760" y="4617720"/>
            <a:ext cx="153619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050" b="1">
                <a:solidFill>
                  <a:srgbClr val="0F172A"/>
                </a:solidFill>
                <a:latin typeface="Calibri"/>
              </a:defRPr>
            </a:pPr>
            <a:r>
              <a:t>6. Refunded</a:t>
            </a:r>
          </a:p>
          <a:p>
            <a:pPr algn="ctr">
              <a:defRPr sz="850">
                <a:solidFill>
                  <a:srgbClr val="64748B"/>
                </a:solidFill>
                <a:latin typeface="Calibri"/>
              </a:defRPr>
            </a:pPr>
            <a:r>
              <a:t>Inventory restored automatically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5840" y="5596128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59E0B"/>
                </a:solidFill>
                <a:latin typeface="Calibri"/>
              </a:defRPr>
            </a:pPr>
            <a:r>
              <a:t>Dispute Arbitration: If seller rejects request, customer can escalate to Administrator for unbiased ruling based on photo proof.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1">
                <a:solidFill>
                  <a:srgbClr val="059669"/>
                </a:solidFill>
                <a:latin typeface="Calibri"/>
              </a:defRPr>
            </a:pPr>
            <a:r>
              <a:t>DATA CONSISTENCY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Georgia"/>
              </a:defRPr>
            </a:pPr>
            <a:r>
              <a:t>Inventory Concurrency &amp; Atomic Reservation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43584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Guaranteed stock integrity preventing overselling, double-selling, and race conditions during high-concurrency checkouts.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190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  <a:r>
              <a:t>LocalLoop  •  Hyperlocal Digital Marketplace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19088"/>
            <a:ext cx="4873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333756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737360"/>
            <a:ext cx="3337560" cy="77724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847088"/>
            <a:ext cx="28803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059669"/>
                </a:solidFill>
                <a:latin typeface="Calibri"/>
              </a:defRPr>
            </a:pPr>
            <a:r>
              <a:t>ATOMIC RESERVATION</a:t>
            </a:r>
          </a:p>
          <a:p>
            <a:pPr>
              <a:defRPr sz="1350" b="1">
                <a:solidFill>
                  <a:srgbClr val="0F172A"/>
                </a:solidFill>
                <a:latin typeface="Calibri"/>
              </a:defRPr>
            </a:pPr>
            <a:r>
              <a:t>Checkout Stock Lock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697480"/>
            <a:ext cx="288036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1050">
                <a:solidFill>
                  <a:srgbClr val="0F172A"/>
                </a:solidFill>
                <a:latin typeface="Calibri"/>
              </a:defRPr>
            </a:pPr>
            <a:r>
              <a:t>• Atomic Decrement: Handled via MongoDB '$inc' with filter conditions '{ stockQuantity: { $gte: qty } }'.</a:t>
            </a:r>
          </a:p>
          <a:p>
            <a:pPr>
              <a:spcAft>
                <a:spcPts val="1100"/>
              </a:spcAft>
              <a:defRPr sz="1050">
                <a:solidFill>
                  <a:srgbClr val="0F172A"/>
                </a:solidFill>
                <a:latin typeface="Calibri"/>
              </a:defRPr>
            </a:pPr>
            <a:r>
              <a:t>• Race-Condition Defense: Prevents two simultaneous shoppers from purchasing the last remaining unit.</a:t>
            </a:r>
          </a:p>
          <a:p>
            <a:pPr>
              <a:spcAft>
                <a:spcPts val="1100"/>
              </a:spcAft>
              <a:defRPr sz="1050">
                <a:solidFill>
                  <a:srgbClr val="0F172A"/>
                </a:solidFill>
                <a:latin typeface="Calibri"/>
              </a:defRPr>
            </a:pPr>
            <a:r>
              <a:t>• Reserved vs Available: Available stock decrements immediately upon checkout initiation.</a:t>
            </a:r>
          </a:p>
          <a:p>
            <a:pPr>
              <a:spcAft>
                <a:spcPts val="1100"/>
              </a:spcAft>
              <a:defRPr sz="1050">
                <a:solidFill>
                  <a:srgbClr val="0F172A"/>
                </a:solidFill>
                <a:latin typeface="Calibri"/>
              </a:defRPr>
            </a:pPr>
            <a:r>
              <a:t>• Zero Double-Selling: Over-the-counter shop sales instantly reflected online via mobile seller toggle.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25696" y="1737360"/>
            <a:ext cx="333756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25696" y="1737360"/>
            <a:ext cx="3337560" cy="77724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54296" y="1847088"/>
            <a:ext cx="28803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0EA5E9"/>
                </a:solidFill>
                <a:latin typeface="Calibri"/>
              </a:defRPr>
            </a:pPr>
            <a:r>
              <a:t>RESTOCK AUTOMATION</a:t>
            </a:r>
          </a:p>
          <a:p>
            <a:pPr>
              <a:defRPr sz="1350" b="1">
                <a:solidFill>
                  <a:srgbClr val="0F172A"/>
                </a:solidFill>
                <a:latin typeface="Calibri"/>
              </a:defRPr>
            </a:pPr>
            <a:r>
              <a:t>Lifecycle Rebalancing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54296" y="2697480"/>
            <a:ext cx="288036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1050">
                <a:solidFill>
                  <a:srgbClr val="0F172A"/>
                </a:solidFill>
                <a:latin typeface="Calibri"/>
              </a:defRPr>
            </a:pPr>
            <a:r>
              <a:t>• Order Cancellation Recovery: Immediate programmatic restoration of items to available inventory.</a:t>
            </a:r>
          </a:p>
          <a:p>
            <a:pPr>
              <a:spcAft>
                <a:spcPts val="1100"/>
              </a:spcAft>
              <a:defRPr sz="1050">
                <a:solidFill>
                  <a:srgbClr val="0F172A"/>
                </a:solidFill>
                <a:latin typeface="Calibri"/>
              </a:defRPr>
            </a:pPr>
            <a:r>
              <a:t>• Return Verification Restock: When seller or admin confirms 'Item Returned', stock auto-increments.</a:t>
            </a:r>
          </a:p>
          <a:p>
            <a:pPr>
              <a:spcAft>
                <a:spcPts val="1100"/>
              </a:spcAft>
              <a:defRPr sz="1050">
                <a:solidFill>
                  <a:srgbClr val="0F172A"/>
                </a:solidFill>
                <a:latin typeface="Calibri"/>
              </a:defRPr>
            </a:pPr>
            <a:r>
              <a:t>• Defective Item Quarantining: If customer returns damaged item, seller can mark as damaged to avoid restock.</a:t>
            </a:r>
          </a:p>
          <a:p>
            <a:pPr>
              <a:spcAft>
                <a:spcPts val="1100"/>
              </a:spcAft>
              <a:defRPr sz="1050">
                <a:solidFill>
                  <a:srgbClr val="0F172A"/>
                </a:solidFill>
                <a:latin typeface="Calibri"/>
              </a:defRPr>
            </a:pPr>
            <a:r>
              <a:t>• Comprehensive Audit Logs: Every inventory delta recorded with orderId, userId, and timestamp.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19872" y="1737360"/>
            <a:ext cx="333756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19872" y="1737360"/>
            <a:ext cx="3337560" cy="77724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48472" y="1847088"/>
            <a:ext cx="28803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950" b="1">
                <a:solidFill>
                  <a:srgbClr val="F59E0B"/>
                </a:solidFill>
                <a:latin typeface="Calibri"/>
              </a:defRPr>
            </a:pPr>
            <a:r>
              <a:t>PROACTIVE MONITORING</a:t>
            </a:r>
          </a:p>
          <a:p>
            <a:pPr>
              <a:defRPr sz="1350" b="1">
                <a:solidFill>
                  <a:srgbClr val="0F172A"/>
                </a:solidFill>
                <a:latin typeface="Calibri"/>
              </a:defRPr>
            </a:pPr>
            <a:r>
              <a:t>Threshold Safety Engine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48472" y="2697480"/>
            <a:ext cx="288036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100"/>
              </a:spcAft>
              <a:defRPr sz="1050">
                <a:solidFill>
                  <a:srgbClr val="0F172A"/>
                </a:solidFill>
                <a:latin typeface="Calibri"/>
              </a:defRPr>
            </a:pPr>
            <a:r>
              <a:t>• Low-Stock Warning Alerts: Automated push notification to merchant when stock falls below 3 units.</a:t>
            </a:r>
          </a:p>
          <a:p>
            <a:pPr>
              <a:spcAft>
                <a:spcPts val="1100"/>
              </a:spcAft>
              <a:defRPr sz="1050">
                <a:solidFill>
                  <a:srgbClr val="0F172A"/>
                </a:solidFill>
                <a:latin typeface="Calibri"/>
              </a:defRPr>
            </a:pPr>
            <a:r>
              <a:t>• Out-of-Stock Auto-Hide: Option to automatically unlist or flag out-of-stock items on marketplace.</a:t>
            </a:r>
          </a:p>
          <a:p>
            <a:pPr>
              <a:spcAft>
                <a:spcPts val="1100"/>
              </a:spcAft>
              <a:defRPr sz="1050">
                <a:solidFill>
                  <a:srgbClr val="0F172A"/>
                </a:solidFill>
                <a:latin typeface="Calibri"/>
              </a:defRPr>
            </a:pPr>
            <a:r>
              <a:t>• Inventory Valuation Metrics: Total catalog asset valuation calculated live for merchant dashboard.</a:t>
            </a:r>
          </a:p>
          <a:p>
            <a:pPr>
              <a:spcAft>
                <a:spcPts val="1100"/>
              </a:spcAft>
              <a:defRPr sz="1050">
                <a:solidFill>
                  <a:srgbClr val="0F172A"/>
                </a:solidFill>
                <a:latin typeface="Calibri"/>
              </a:defRPr>
            </a:pPr>
            <a:r>
              <a:t>• Historical Demand Analytics: Recharts bar graphs illustrating sales velocity per SKU.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1">
                <a:solidFill>
                  <a:srgbClr val="059669"/>
                </a:solidFill>
                <a:latin typeface="Calibri"/>
              </a:defRPr>
            </a:pPr>
            <a:r>
              <a:t>TECHNICAL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Georgia"/>
              </a:defRPr>
            </a:pPr>
            <a:r>
              <a:t>Layered 4-Tier Full-Stack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43584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Clean separation of presentation, API routing, business domain micro-services, and MongoDB persistence.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190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  <a:r>
              <a:t>LocalLoop  •  Hyperlocal Digital Marketplace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19088"/>
            <a:ext cx="4873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10728655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737360"/>
            <a:ext cx="2926080" cy="100584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05740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1">
                <a:solidFill>
                  <a:srgbClr val="059669"/>
                </a:solidFill>
                <a:latin typeface="Calibri"/>
              </a:defRPr>
            </a:pPr>
            <a:r>
              <a:t>TIER 1: PRESENTATION &amp; CLIENT (Vite + React)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1847088"/>
            <a:ext cx="74066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0F172A"/>
                </a:solidFill>
                <a:latin typeface="Calibri"/>
              </a:defRPr>
            </a:pPr>
            <a:r>
              <a:t>• Tailwind CSS 3: Responsive utility-first design system with mobile-first breakpoints.</a:t>
            </a:r>
          </a:p>
          <a:p>
            <a:pPr>
              <a:spcAft>
                <a:spcPts val="200"/>
              </a:spcAft>
              <a:defRPr sz="1000">
                <a:solidFill>
                  <a:srgbClr val="0F172A"/>
                </a:solidFill>
                <a:latin typeface="Calibri"/>
              </a:defRPr>
            </a:pPr>
            <a:r>
              <a:t>• Client Router (React Router 6): Role-guarded customer, seller, and administrator routes.</a:t>
            </a:r>
          </a:p>
          <a:p>
            <a:pPr>
              <a:spcAft>
                <a:spcPts val="200"/>
              </a:spcAft>
              <a:defRPr sz="1000">
                <a:solidFill>
                  <a:srgbClr val="0F172A"/>
                </a:solidFill>
                <a:latin typeface="Calibri"/>
              </a:defRPr>
            </a:pPr>
            <a:r>
              <a:t>• Interactive UI: Leaflet.js interactive maps, Lucide React icons, and Recharts analytics dashboards.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852928"/>
            <a:ext cx="10728655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2852928"/>
            <a:ext cx="2926080" cy="100584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172968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1">
                <a:solidFill>
                  <a:srgbClr val="4F46E5"/>
                </a:solidFill>
                <a:latin typeface="Calibri"/>
              </a:defRPr>
            </a:pPr>
            <a:r>
              <a:t>TIER 2: API GATEWAY &amp; SECURITY (Node.js + Express)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2962656"/>
            <a:ext cx="74066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0F172A"/>
                </a:solidFill>
                <a:latin typeface="Calibri"/>
              </a:defRPr>
            </a:pPr>
            <a:r>
              <a:t>• RESTful API Routes: Modular endpoints (/api/auth, /api/shops, /api/products, /api/orders, /api/returns).</a:t>
            </a:r>
          </a:p>
          <a:p>
            <a:pPr>
              <a:spcAft>
                <a:spcPts val="200"/>
              </a:spcAft>
              <a:defRPr sz="1000">
                <a:solidFill>
                  <a:srgbClr val="0F172A"/>
                </a:solidFill>
                <a:latin typeface="Calibri"/>
              </a:defRPr>
            </a:pPr>
            <a:r>
              <a:t>• JWT Role Guards: Middleware enforcing customerOnly, sellerOnly, and adminOnly authorization.</a:t>
            </a:r>
          </a:p>
          <a:p>
            <a:pPr>
              <a:spcAft>
                <a:spcPts val="200"/>
              </a:spcAft>
              <a:defRPr sz="1000">
                <a:solidFill>
                  <a:srgbClr val="0F172A"/>
                </a:solidFill>
                <a:latin typeface="Calibri"/>
              </a:defRPr>
            </a:pPr>
            <a:r>
              <a:t>• Security Suite: BCrypt password hashing, Helmet headers, CORS policies, and rate-limiting.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968496"/>
            <a:ext cx="10728655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3968496"/>
            <a:ext cx="2926080" cy="100584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288536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1">
                <a:solidFill>
                  <a:srgbClr val="0EA5E9"/>
                </a:solidFill>
                <a:latin typeface="Calibri"/>
              </a:defRPr>
            </a:pPr>
            <a:r>
              <a:t>TIER 3: DOMAIN LOGIC &amp; SERVICES (Business Controllers)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4078224"/>
            <a:ext cx="74066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0F172A"/>
                </a:solidFill>
                <a:latin typeface="Calibri"/>
              </a:defRPr>
            </a:pPr>
            <a:r>
              <a:t>• Order Execution Engine: Atomic inventory checks, price snapshotting, and transaction logging.</a:t>
            </a:r>
          </a:p>
          <a:p>
            <a:pPr>
              <a:spcAft>
                <a:spcPts val="200"/>
              </a:spcAft>
              <a:defRPr sz="1000">
                <a:solidFill>
                  <a:srgbClr val="0F172A"/>
                </a:solidFill>
                <a:latin typeface="Calibri"/>
              </a:defRPr>
            </a:pPr>
            <a:r>
              <a:t>• Dispute Arbitration Handler: Two-tier approval pipeline (Seller Review → Admin Escalation).</a:t>
            </a:r>
          </a:p>
          <a:p>
            <a:pPr>
              <a:spcAft>
                <a:spcPts val="200"/>
              </a:spcAft>
              <a:defRPr sz="1000">
                <a:solidFill>
                  <a:srgbClr val="0F172A"/>
                </a:solidFill>
                <a:latin typeface="Calibri"/>
              </a:defRPr>
            </a:pPr>
            <a:r>
              <a:t>• Mock Payment Adapter: Deterministic test-mode payment gateway simulating instant success/failure.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084064"/>
            <a:ext cx="10728655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5084064"/>
            <a:ext cx="2926080" cy="10058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5404104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1">
                <a:solidFill>
                  <a:srgbClr val="102C28"/>
                </a:solidFill>
                <a:latin typeface="Calibri"/>
              </a:defRPr>
            </a:pPr>
            <a:r>
              <a:t>TIER 4: DOCUMENT PERSISTENCE (MongoDB + Mongoose)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0" y="5193792"/>
            <a:ext cx="74066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0F172A"/>
                </a:solidFill>
                <a:latin typeface="Calibri"/>
              </a:defRPr>
            </a:pPr>
            <a:r>
              <a:t>• Schema Modeling: Strict Mongoose schemas with validation, foreign ObjectId refs, and enum states.</a:t>
            </a:r>
          </a:p>
          <a:p>
            <a:pPr>
              <a:spcAft>
                <a:spcPts val="200"/>
              </a:spcAft>
              <a:defRPr sz="1000">
                <a:solidFill>
                  <a:srgbClr val="0F172A"/>
                </a:solidFill>
                <a:latin typeface="Calibri"/>
              </a:defRPr>
            </a:pPr>
            <a:r>
              <a:t>• Spatial 2dsphere Indexes: High-speed geospatial discovery for coordinates and delivery radius.</a:t>
            </a:r>
          </a:p>
          <a:p>
            <a:pPr>
              <a:spcAft>
                <a:spcPts val="200"/>
              </a:spcAft>
              <a:defRPr sz="1000">
                <a:solidFill>
                  <a:srgbClr val="0F172A"/>
                </a:solidFill>
                <a:latin typeface="Calibri"/>
              </a:defRPr>
            </a:pPr>
            <a:r>
              <a:t>• Atomic Concurrency: Protected transactions ensuring zero inventory leaks and historical data accuracy.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1">
                <a:solidFill>
                  <a:srgbClr val="059669"/>
                </a:solidFill>
                <a:latin typeface="Calibri"/>
              </a:defRPr>
            </a:pPr>
            <a:r>
              <a:t>DATA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Georgia"/>
              </a:defRPr>
            </a:pPr>
            <a:r>
              <a:t>Mongoose Schemas &amp; Relational Blueprint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43584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Normalized MongoDB collections designed for referential integrity, immutable pricing, and geo-indexing.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190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  <a:r>
              <a:t>LocalLoop  •  Hyperlocal Digital Marketplace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19088"/>
            <a:ext cx="4873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333756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874520"/>
            <a:ext cx="2880360" cy="1783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Calibri"/>
              </a:defRPr>
            </a:pPr>
            <a:r>
              <a:t>Users Collection</a:t>
            </a:r>
          </a:p>
          <a:p>
            <a:pPr>
              <a:spcAft>
                <a:spcPts val="400"/>
              </a:spcAft>
              <a:defRPr sz="950" b="1">
                <a:solidFill>
                  <a:srgbClr val="059669"/>
                </a:solidFill>
                <a:latin typeface="Calibri"/>
              </a:defRPr>
            </a:pPr>
            <a:r>
              <a:t>Authentication &amp; Roles</a:t>
            </a:r>
          </a:p>
          <a:p>
            <a:pPr>
              <a:spcAft>
                <a:spcPts val="100"/>
              </a:spcAft>
              <a:defRPr sz="900">
                <a:solidFill>
                  <a:srgbClr val="64748B"/>
                </a:solidFill>
                <a:latin typeface="Calibri"/>
              </a:defRPr>
            </a:pPr>
            <a:r>
              <a:t>• _id: ObjectId, name: String</a:t>
            </a:r>
          </a:p>
          <a:p>
            <a:pPr>
              <a:spcAft>
                <a:spcPts val="100"/>
              </a:spcAft>
              <a:defRPr sz="900">
                <a:solidFill>
                  <a:srgbClr val="64748B"/>
                </a:solidFill>
                <a:latin typeface="Calibri"/>
              </a:defRPr>
            </a:pPr>
            <a:r>
              <a:t>• email: String (unique index)</a:t>
            </a:r>
          </a:p>
          <a:p>
            <a:pPr>
              <a:spcAft>
                <a:spcPts val="100"/>
              </a:spcAft>
              <a:defRPr sz="900">
                <a:solidFill>
                  <a:srgbClr val="64748B"/>
                </a:solidFill>
                <a:latin typeface="Calibri"/>
              </a:defRPr>
            </a:pPr>
            <a:r>
              <a:t>• passwordHash: String (bcrypt)</a:t>
            </a:r>
          </a:p>
          <a:p>
            <a:pPr>
              <a:spcAft>
                <a:spcPts val="100"/>
              </a:spcAft>
              <a:defRPr sz="900">
                <a:solidFill>
                  <a:srgbClr val="64748B"/>
                </a:solidFill>
                <a:latin typeface="Calibri"/>
              </a:defRPr>
            </a:pPr>
            <a:r>
              <a:t>• role: enum ['customer', 'seller', 'admin']</a:t>
            </a:r>
          </a:p>
          <a:p>
            <a:pPr>
              <a:spcAft>
                <a:spcPts val="100"/>
              </a:spcAft>
              <a:defRPr sz="900">
                <a:solidFill>
                  <a:srgbClr val="64748B"/>
                </a:solidFill>
                <a:latin typeface="Calibri"/>
              </a:defRPr>
            </a:pPr>
            <a:r>
              <a:t>• addresses: [{ street, city, pin, coordinates }]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25696" y="1737360"/>
            <a:ext cx="333756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54296" y="1874520"/>
            <a:ext cx="2880360" cy="1783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Calibri"/>
              </a:defRPr>
            </a:pPr>
            <a:r>
              <a:t>Shops Collection</a:t>
            </a:r>
          </a:p>
          <a:p>
            <a:pPr>
              <a:spcAft>
                <a:spcPts val="400"/>
              </a:spcAft>
              <a:defRPr sz="950" b="1">
                <a:solidFill>
                  <a:srgbClr val="059669"/>
                </a:solidFill>
                <a:latin typeface="Calibri"/>
              </a:defRPr>
            </a:pPr>
            <a:r>
              <a:t>Storefront &amp; Verification</a:t>
            </a:r>
          </a:p>
          <a:p>
            <a:pPr>
              <a:spcAft>
                <a:spcPts val="100"/>
              </a:spcAft>
              <a:defRPr sz="900">
                <a:solidFill>
                  <a:srgbClr val="64748B"/>
                </a:solidFill>
                <a:latin typeface="Calibri"/>
              </a:defRPr>
            </a:pPr>
            <a:r>
              <a:t>• _id: ObjectId, sellerId: ref User</a:t>
            </a:r>
          </a:p>
          <a:p>
            <a:pPr>
              <a:spcAft>
                <a:spcPts val="100"/>
              </a:spcAft>
              <a:defRPr sz="900">
                <a:solidFill>
                  <a:srgbClr val="64748B"/>
                </a:solidFill>
                <a:latin typeface="Calibri"/>
              </a:defRPr>
            </a:pPr>
            <a:r>
              <a:t>• shopName: String, description: String</a:t>
            </a:r>
          </a:p>
          <a:p>
            <a:pPr>
              <a:spcAft>
                <a:spcPts val="100"/>
              </a:spcAft>
              <a:defRPr sz="900">
                <a:solidFill>
                  <a:srgbClr val="64748B"/>
                </a:solidFill>
                <a:latin typeface="Calibri"/>
              </a:defRPr>
            </a:pPr>
            <a:r>
              <a:t>• location: { type: 'Point', coordinates: [lng, lat] }</a:t>
            </a:r>
          </a:p>
          <a:p>
            <a:pPr>
              <a:spcAft>
                <a:spcPts val="100"/>
              </a:spcAft>
              <a:defRPr sz="900">
                <a:solidFill>
                  <a:srgbClr val="64748B"/>
                </a:solidFill>
                <a:latin typeface="Calibri"/>
              </a:defRPr>
            </a:pPr>
            <a:r>
              <a:t>• verificationStatus: ['pending', 'verified', 'suspended']</a:t>
            </a:r>
          </a:p>
          <a:p>
            <a:pPr>
              <a:spcAft>
                <a:spcPts val="100"/>
              </a:spcAft>
              <a:defRPr sz="900">
                <a:solidFill>
                  <a:srgbClr val="64748B"/>
                </a:solidFill>
                <a:latin typeface="Calibri"/>
              </a:defRPr>
            </a:pPr>
            <a:r>
              <a:t>• deliveryRadiusKm: Number, operatingHours: Object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19872" y="1737360"/>
            <a:ext cx="333756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48472" y="1874520"/>
            <a:ext cx="2880360" cy="1783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Calibri"/>
              </a:defRPr>
            </a:pPr>
            <a:r>
              <a:t>Products Collection</a:t>
            </a:r>
          </a:p>
          <a:p>
            <a:pPr>
              <a:spcAft>
                <a:spcPts val="400"/>
              </a:spcAft>
              <a:defRPr sz="950" b="1">
                <a:solidFill>
                  <a:srgbClr val="059669"/>
                </a:solidFill>
                <a:latin typeface="Calibri"/>
              </a:defRPr>
            </a:pPr>
            <a:r>
              <a:t>Catalog &amp; Inventory</a:t>
            </a:r>
          </a:p>
          <a:p>
            <a:pPr>
              <a:spcAft>
                <a:spcPts val="100"/>
              </a:spcAft>
              <a:defRPr sz="900">
                <a:solidFill>
                  <a:srgbClr val="64748B"/>
                </a:solidFill>
                <a:latin typeface="Calibri"/>
              </a:defRPr>
            </a:pPr>
            <a:r>
              <a:t>• _id: ObjectId, shopId: ref Shop</a:t>
            </a:r>
          </a:p>
          <a:p>
            <a:pPr>
              <a:spcAft>
                <a:spcPts val="100"/>
              </a:spcAft>
              <a:defRPr sz="900">
                <a:solidFill>
                  <a:srgbClr val="64748B"/>
                </a:solidFill>
                <a:latin typeface="Calibri"/>
              </a:defRPr>
            </a:pPr>
            <a:r>
              <a:t>• title: String, categoryId: ref Category</a:t>
            </a:r>
          </a:p>
          <a:p>
            <a:pPr>
              <a:spcAft>
                <a:spcPts val="100"/>
              </a:spcAft>
              <a:defRPr sz="900">
                <a:solidFill>
                  <a:srgbClr val="64748B"/>
                </a:solidFill>
                <a:latin typeface="Calibri"/>
              </a:defRPr>
            </a:pPr>
            <a:r>
              <a:t>• price: Number, discountPrice: Number</a:t>
            </a:r>
          </a:p>
          <a:p>
            <a:pPr>
              <a:spcAft>
                <a:spcPts val="100"/>
              </a:spcAft>
              <a:defRPr sz="900">
                <a:solidFill>
                  <a:srgbClr val="64748B"/>
                </a:solidFill>
                <a:latin typeface="Calibri"/>
              </a:defRPr>
            </a:pPr>
            <a:r>
              <a:t>• stockQuantity: Number (atomic decrement)</a:t>
            </a:r>
          </a:p>
          <a:p>
            <a:pPr>
              <a:spcAft>
                <a:spcPts val="100"/>
              </a:spcAft>
              <a:defRPr sz="900">
                <a:solidFill>
                  <a:srgbClr val="64748B"/>
                </a:solidFill>
                <a:latin typeface="Calibri"/>
              </a:defRPr>
            </a:pPr>
            <a:r>
              <a:t>• images: [String], returnPolicyDays: Number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023360"/>
            <a:ext cx="333756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160520"/>
            <a:ext cx="2880360" cy="1783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Calibri"/>
              </a:defRPr>
            </a:pPr>
            <a:r>
              <a:t>Orders Collection</a:t>
            </a:r>
          </a:p>
          <a:p>
            <a:pPr>
              <a:spcAft>
                <a:spcPts val="400"/>
              </a:spcAft>
              <a:defRPr sz="950" b="1">
                <a:solidFill>
                  <a:srgbClr val="059669"/>
                </a:solidFill>
                <a:latin typeface="Calibri"/>
              </a:defRPr>
            </a:pPr>
            <a:r>
              <a:t>Transactions &amp; Tracking</a:t>
            </a:r>
          </a:p>
          <a:p>
            <a:pPr>
              <a:spcAft>
                <a:spcPts val="100"/>
              </a:spcAft>
              <a:defRPr sz="900">
                <a:solidFill>
                  <a:srgbClr val="64748B"/>
                </a:solidFill>
                <a:latin typeface="Calibri"/>
              </a:defRPr>
            </a:pPr>
            <a:r>
              <a:t>• _id: ObjectId, customerId: ref User, shopId: ref Shop</a:t>
            </a:r>
          </a:p>
          <a:p>
            <a:pPr>
              <a:spcAft>
                <a:spcPts val="100"/>
              </a:spcAft>
              <a:defRPr sz="900">
                <a:solidFill>
                  <a:srgbClr val="64748B"/>
                </a:solidFill>
                <a:latin typeface="Calibri"/>
              </a:defRPr>
            </a:pPr>
            <a:r>
              <a:t>• items: [{ productId, title, priceSnapshot, qty }]</a:t>
            </a:r>
          </a:p>
          <a:p>
            <a:pPr>
              <a:spcAft>
                <a:spcPts val="100"/>
              </a:spcAft>
              <a:defRPr sz="900">
                <a:solidFill>
                  <a:srgbClr val="64748B"/>
                </a:solidFill>
                <a:latin typeface="Calibri"/>
              </a:defRPr>
            </a:pPr>
            <a:r>
              <a:t>• totalAmount: Number, paymentStatus: String</a:t>
            </a:r>
          </a:p>
          <a:p>
            <a:pPr>
              <a:spcAft>
                <a:spcPts val="100"/>
              </a:spcAft>
              <a:defRPr sz="900">
                <a:solidFill>
                  <a:srgbClr val="64748B"/>
                </a:solidFill>
                <a:latin typeface="Calibri"/>
              </a:defRPr>
            </a:pPr>
            <a:r>
              <a:t>• orderStatus: ['placed' → 'confirmed' → 'delivered']</a:t>
            </a:r>
          </a:p>
          <a:p>
            <a:pPr>
              <a:spcAft>
                <a:spcPts val="100"/>
              </a:spcAft>
              <a:defRPr sz="900">
                <a:solidFill>
                  <a:srgbClr val="64748B"/>
                </a:solidFill>
                <a:latin typeface="Calibri"/>
              </a:defRPr>
            </a:pPr>
            <a:r>
              <a:t>• trackingEvents: [{ status, timestamp, note }]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25696" y="4023360"/>
            <a:ext cx="333756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54296" y="4160520"/>
            <a:ext cx="2880360" cy="1783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Calibri"/>
              </a:defRPr>
            </a:pPr>
            <a:r>
              <a:t>Returns Collection</a:t>
            </a:r>
          </a:p>
          <a:p>
            <a:pPr>
              <a:spcAft>
                <a:spcPts val="400"/>
              </a:spcAft>
              <a:defRPr sz="950" b="1">
                <a:solidFill>
                  <a:srgbClr val="059669"/>
                </a:solidFill>
                <a:latin typeface="Calibri"/>
              </a:defRPr>
            </a:pPr>
            <a:r>
              <a:t>Disputes &amp; Refunds</a:t>
            </a:r>
          </a:p>
          <a:p>
            <a:pPr>
              <a:spcAft>
                <a:spcPts val="100"/>
              </a:spcAft>
              <a:defRPr sz="900">
                <a:solidFill>
                  <a:srgbClr val="64748B"/>
                </a:solidFill>
                <a:latin typeface="Calibri"/>
              </a:defRPr>
            </a:pPr>
            <a:r>
              <a:t>• _id: ObjectId, orderId: ref Order, customerId: ref User</a:t>
            </a:r>
          </a:p>
          <a:p>
            <a:pPr>
              <a:spcAft>
                <a:spcPts val="100"/>
              </a:spcAft>
              <a:defRPr sz="900">
                <a:solidFill>
                  <a:srgbClr val="64748B"/>
                </a:solidFill>
                <a:latin typeface="Calibri"/>
              </a:defRPr>
            </a:pPr>
            <a:r>
              <a:t>• reason: String, imageEvidenceUrls: [String]</a:t>
            </a:r>
          </a:p>
          <a:p>
            <a:pPr>
              <a:spcAft>
                <a:spcPts val="100"/>
              </a:spcAft>
              <a:defRPr sz="900">
                <a:solidFill>
                  <a:srgbClr val="64748B"/>
                </a:solidFill>
                <a:latin typeface="Calibri"/>
              </a:defRPr>
            </a:pPr>
            <a:r>
              <a:t>• returnStatus: ['requested' → 'approved' → 'refunded']</a:t>
            </a:r>
          </a:p>
          <a:p>
            <a:pPr>
              <a:spcAft>
                <a:spcPts val="100"/>
              </a:spcAft>
              <a:defRPr sz="900">
                <a:solidFill>
                  <a:srgbClr val="64748B"/>
                </a:solidFill>
                <a:latin typeface="Calibri"/>
              </a:defRPr>
            </a:pPr>
            <a:r>
              <a:t>• adminIntervention: Boolean, resolutionNotes: String</a:t>
            </a:r>
          </a:p>
          <a:p>
            <a:pPr>
              <a:spcAft>
                <a:spcPts val="100"/>
              </a:spcAft>
              <a:defRPr sz="900">
                <a:solidFill>
                  <a:srgbClr val="64748B"/>
                </a:solidFill>
                <a:latin typeface="Calibri"/>
              </a:defRPr>
            </a:pPr>
            <a:r>
              <a:t>• refundAmount: Number, refundTransactionRef: String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4023360"/>
            <a:ext cx="333756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48472" y="4160520"/>
            <a:ext cx="2880360" cy="1783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  <a:latin typeface="Calibri"/>
              </a:defRPr>
            </a:pPr>
            <a:r>
              <a:t>Reviews &amp; Notifications</a:t>
            </a:r>
          </a:p>
          <a:p>
            <a:pPr>
              <a:spcAft>
                <a:spcPts val="400"/>
              </a:spcAft>
              <a:defRPr sz="950" b="1">
                <a:solidFill>
                  <a:srgbClr val="059669"/>
                </a:solidFill>
                <a:latin typeface="Calibri"/>
              </a:defRPr>
            </a:pPr>
            <a:r>
              <a:t>Trust &amp; Messaging</a:t>
            </a:r>
          </a:p>
          <a:p>
            <a:pPr>
              <a:spcAft>
                <a:spcPts val="100"/>
              </a:spcAft>
              <a:defRPr sz="900">
                <a:solidFill>
                  <a:srgbClr val="64748B"/>
                </a:solidFill>
                <a:latin typeface="Calibri"/>
              </a:defRPr>
            </a:pPr>
            <a:r>
              <a:t>• _id: ObjectId, targetId: ref (Product | Shop)</a:t>
            </a:r>
          </a:p>
          <a:p>
            <a:pPr>
              <a:spcAft>
                <a:spcPts val="100"/>
              </a:spcAft>
              <a:defRPr sz="900">
                <a:solidFill>
                  <a:srgbClr val="64748B"/>
                </a:solidFill>
                <a:latin typeface="Calibri"/>
              </a:defRPr>
            </a:pPr>
            <a:r>
              <a:t>• customerId: ref User (verified purchase guard)</a:t>
            </a:r>
          </a:p>
          <a:p>
            <a:pPr>
              <a:spcAft>
                <a:spcPts val="100"/>
              </a:spcAft>
              <a:defRPr sz="900">
                <a:solidFill>
                  <a:srgbClr val="64748B"/>
                </a:solidFill>
                <a:latin typeface="Calibri"/>
              </a:defRPr>
            </a:pPr>
            <a:r>
              <a:t>• rating: Number (1-5), comment: String</a:t>
            </a:r>
          </a:p>
          <a:p>
            <a:pPr>
              <a:spcAft>
                <a:spcPts val="100"/>
              </a:spcAft>
              <a:defRPr sz="900">
                <a:solidFill>
                  <a:srgbClr val="64748B"/>
                </a:solidFill>
                <a:latin typeface="Calibri"/>
              </a:defRPr>
            </a:pPr>
            <a:r>
              <a:t>• notifications: [{ userId, title, message, isRead }]</a:t>
            </a:r>
          </a:p>
          <a:p>
            <a:pPr>
              <a:spcAft>
                <a:spcPts val="100"/>
              </a:spcAft>
              <a:defRPr sz="900">
                <a:solidFill>
                  <a:srgbClr val="64748B"/>
                </a:solidFill>
                <a:latin typeface="Calibri"/>
              </a:defRPr>
            </a:pPr>
            <a:r>
              <a:t>• analytics: Daily revenue &amp; sales snapshot logs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1">
                <a:solidFill>
                  <a:srgbClr val="059669"/>
                </a:solidFill>
                <a:latin typeface="Calibri"/>
              </a:defRPr>
            </a:pPr>
            <a:r>
              <a:t>USER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Georgia"/>
              </a:defRPr>
            </a:pPr>
            <a:r>
              <a:t>Complete 13-Page Application Sitemap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43584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Cohesive responsive navigation architecture covering public storefronts, shopper tools, merchant studios, and governance.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190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  <a:r>
              <a:t>LocalLoop  •  Hyperlocal Digital Marketplace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19088"/>
            <a:ext cx="4873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24688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737360"/>
            <a:ext cx="2468880" cy="59436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920240"/>
            <a:ext cx="219456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 b="1">
                <a:solidFill>
                  <a:srgbClr val="059669"/>
                </a:solidFill>
                <a:latin typeface="Calibri"/>
              </a:defRPr>
            </a:pPr>
            <a:r>
              <a:t>PUBLIC MARKETPLACE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68880"/>
            <a:ext cx="2103120" cy="3520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Calibri"/>
              </a:defRPr>
            </a:pPr>
            <a:r>
              <a:t>1. Home Page</a:t>
            </a:r>
          </a:p>
          <a:p>
            <a:pPr>
              <a:spcAft>
                <a:spcPts val="800"/>
              </a:spcAft>
              <a:defRPr sz="950">
                <a:solidFill>
                  <a:srgbClr val="64748B"/>
                </a:solidFill>
                <a:latin typeface="Calibri"/>
              </a:defRPr>
            </a:pPr>
            <a:r>
              <a:t>Nearby shops, search, trending items &amp; personalized picks.</a:t>
            </a:r>
          </a:p>
          <a:p>
            <a:pPr>
              <a:defRPr sz="1100" b="1">
                <a:solidFill>
                  <a:srgbClr val="0F172A"/>
                </a:solidFill>
                <a:latin typeface="Calibri"/>
              </a:defRPr>
            </a:pPr>
            <a:r>
              <a:t>2. Product Catalog</a:t>
            </a:r>
          </a:p>
          <a:p>
            <a:pPr>
              <a:spcAft>
                <a:spcPts val="800"/>
              </a:spcAft>
              <a:defRPr sz="950">
                <a:solidFill>
                  <a:srgbClr val="64748B"/>
                </a:solidFill>
                <a:latin typeface="Calibri"/>
              </a:defRPr>
            </a:pPr>
            <a:r>
              <a:t>Category browsing, multi-facet filtering &amp; price sorting.</a:t>
            </a:r>
          </a:p>
          <a:p>
            <a:pPr>
              <a:defRPr sz="1100" b="1">
                <a:solidFill>
                  <a:srgbClr val="0F172A"/>
                </a:solidFill>
                <a:latin typeface="Calibri"/>
              </a:defRPr>
            </a:pPr>
            <a:r>
              <a:t>3. Product Details</a:t>
            </a:r>
          </a:p>
          <a:p>
            <a:pPr>
              <a:spcAft>
                <a:spcPts val="800"/>
              </a:spcAft>
              <a:defRPr sz="950">
                <a:solidFill>
                  <a:srgbClr val="64748B"/>
                </a:solidFill>
                <a:latin typeface="Calibri"/>
              </a:defRPr>
            </a:pPr>
            <a:r>
              <a:t>Images, specs, stock indicator, seller profile &amp; reviews.</a:t>
            </a:r>
          </a:p>
          <a:p>
            <a:pPr>
              <a:defRPr sz="1100" b="1">
                <a:solidFill>
                  <a:srgbClr val="0F172A"/>
                </a:solidFill>
                <a:latin typeface="Calibri"/>
              </a:defRPr>
            </a:pPr>
            <a:r>
              <a:t>4. Shop Profile</a:t>
            </a:r>
          </a:p>
          <a:p>
            <a:pPr>
              <a:spcAft>
                <a:spcPts val="800"/>
              </a:spcAft>
              <a:defRPr sz="950">
                <a:solidFill>
                  <a:srgbClr val="64748B"/>
                </a:solidFill>
                <a:latin typeface="Calibri"/>
              </a:defRPr>
            </a:pPr>
            <a:r>
              <a:t>Operating hours, seller bio, verified badge &amp; full inventory.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83864" y="1737360"/>
            <a:ext cx="24688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83864" y="1737360"/>
            <a:ext cx="2468880" cy="594360"/>
          </a:xfrm>
          <a:prstGeom prst="rect">
            <a:avLst/>
          </a:prstGeom>
          <a:solidFill>
            <a:srgbClr val="F0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21024" y="1920240"/>
            <a:ext cx="219456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Calibri"/>
              </a:defRPr>
            </a:pPr>
            <a:r>
              <a:t>CUSTOMER SHOPPING &amp; CHECKOUT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66744" y="2468880"/>
            <a:ext cx="2103120" cy="3520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Calibri"/>
              </a:defRPr>
            </a:pPr>
            <a:r>
              <a:t>5. Product Comparison</a:t>
            </a:r>
          </a:p>
          <a:p>
            <a:pPr>
              <a:spcAft>
                <a:spcPts val="800"/>
              </a:spcAft>
              <a:defRPr sz="950">
                <a:solidFill>
                  <a:srgbClr val="64748B"/>
                </a:solidFill>
                <a:latin typeface="Calibri"/>
              </a:defRPr>
            </a:pPr>
            <a:r>
              <a:t>4-way side-by-side radar with best price highlight.</a:t>
            </a:r>
          </a:p>
          <a:p>
            <a:pPr>
              <a:defRPr sz="1100" b="1">
                <a:solidFill>
                  <a:srgbClr val="0F172A"/>
                </a:solidFill>
                <a:latin typeface="Calibri"/>
              </a:defRPr>
            </a:pPr>
            <a:r>
              <a:t>6. Cart &amp; Checkout</a:t>
            </a:r>
          </a:p>
          <a:p>
            <a:pPr>
              <a:spcAft>
                <a:spcPts val="800"/>
              </a:spcAft>
              <a:defRPr sz="950">
                <a:solidFill>
                  <a:srgbClr val="64748B"/>
                </a:solidFill>
                <a:latin typeface="Calibri"/>
              </a:defRPr>
            </a:pPr>
            <a:r>
              <a:t>Delivery address entry, promo code &amp; mock payment gateway.</a:t>
            </a:r>
          </a:p>
          <a:p>
            <a:pPr>
              <a:defRPr sz="1100" b="1">
                <a:solidFill>
                  <a:srgbClr val="0F172A"/>
                </a:solidFill>
                <a:latin typeface="Calibri"/>
              </a:defRPr>
            </a:pPr>
            <a:r>
              <a:t>7. Auth &amp; Profile</a:t>
            </a:r>
          </a:p>
          <a:p>
            <a:pPr>
              <a:spcAft>
                <a:spcPts val="800"/>
              </a:spcAft>
              <a:defRPr sz="950">
                <a:solidFill>
                  <a:srgbClr val="64748B"/>
                </a:solidFill>
                <a:latin typeface="Calibri"/>
              </a:defRPr>
            </a:pPr>
            <a:r>
              <a:t>Customer &amp; seller login/registration &amp; address book.</a:t>
            </a:r>
          </a:p>
          <a:p>
            <a:pPr>
              <a:defRPr sz="1100" b="1">
                <a:solidFill>
                  <a:srgbClr val="0F172A"/>
                </a:solidFill>
                <a:latin typeface="Calibri"/>
              </a:defRPr>
            </a:pPr>
            <a:r>
              <a:t>8. Customer Dashboard</a:t>
            </a:r>
          </a:p>
          <a:p>
            <a:pPr>
              <a:spcAft>
                <a:spcPts val="800"/>
              </a:spcAft>
              <a:defRPr sz="950">
                <a:solidFill>
                  <a:srgbClr val="64748B"/>
                </a:solidFill>
                <a:latin typeface="Calibri"/>
              </a:defRPr>
            </a:pPr>
            <a:r>
              <a:t>Order history, wishlist, notifications &amp; return tickets.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8" y="1737360"/>
            <a:ext cx="24688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6208" y="1737360"/>
            <a:ext cx="2468880" cy="59436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3368" y="1920240"/>
            <a:ext cx="219456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 b="1">
                <a:solidFill>
                  <a:srgbClr val="4F46E5"/>
                </a:solidFill>
                <a:latin typeface="Calibri"/>
              </a:defRPr>
            </a:pPr>
            <a:r>
              <a:t>SELLER STUDIO &amp; FULFILLMENT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088" y="2468880"/>
            <a:ext cx="2103120" cy="3520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Calibri"/>
              </a:defRPr>
            </a:pPr>
            <a:r>
              <a:t>9. Seller Dashboard</a:t>
            </a:r>
          </a:p>
          <a:p>
            <a:pPr>
              <a:spcAft>
                <a:spcPts val="800"/>
              </a:spcAft>
              <a:defRPr sz="950">
                <a:solidFill>
                  <a:srgbClr val="64748B"/>
                </a:solidFill>
                <a:latin typeface="Calibri"/>
              </a:defRPr>
            </a:pPr>
            <a:r>
              <a:t>Sales charts, inventory management &amp; low-stock alerts.</a:t>
            </a:r>
          </a:p>
          <a:p>
            <a:pPr>
              <a:defRPr sz="1100" b="1">
                <a:solidFill>
                  <a:srgbClr val="0F172A"/>
                </a:solidFill>
                <a:latin typeface="Calibri"/>
              </a:defRPr>
            </a:pPr>
            <a:r>
              <a:t>10. Order Tracking Page</a:t>
            </a:r>
          </a:p>
          <a:p>
            <a:pPr>
              <a:spcAft>
                <a:spcPts val="800"/>
              </a:spcAft>
              <a:defRPr sz="950">
                <a:solidFill>
                  <a:srgbClr val="64748B"/>
                </a:solidFill>
                <a:latin typeface="Calibri"/>
              </a:defRPr>
            </a:pPr>
            <a:r>
              <a:t>Live visual timeline from Placed to Delivered.</a:t>
            </a:r>
          </a:p>
          <a:p>
            <a:pPr>
              <a:defRPr sz="1100" b="1">
                <a:solidFill>
                  <a:srgbClr val="0F172A"/>
                </a:solidFill>
                <a:latin typeface="Calibri"/>
              </a:defRPr>
            </a:pPr>
            <a:r>
              <a:t>11. Returns Processing</a:t>
            </a:r>
          </a:p>
          <a:p>
            <a:pPr>
              <a:spcAft>
                <a:spcPts val="800"/>
              </a:spcAft>
              <a:defRPr sz="950">
                <a:solidFill>
                  <a:srgbClr val="64748B"/>
                </a:solidFill>
                <a:latin typeface="Calibri"/>
              </a:defRPr>
            </a:pPr>
            <a:r>
              <a:t>Review customer claims, inspect images &amp; issue refunds.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88552" y="1737360"/>
            <a:ext cx="24688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88552" y="1737360"/>
            <a:ext cx="2468880" cy="59436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25712" y="1920240"/>
            <a:ext cx="219456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000" b="1">
                <a:solidFill>
                  <a:srgbClr val="F59E0B"/>
                </a:solidFill>
                <a:latin typeface="Calibri"/>
              </a:defRPr>
            </a:pPr>
            <a:r>
              <a:t>ADMIN &amp; MARKETPLACE POLICIES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71432" y="2468880"/>
            <a:ext cx="2103120" cy="3520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F172A"/>
                </a:solidFill>
                <a:latin typeface="Calibri"/>
              </a:defRPr>
            </a:pPr>
            <a:r>
              <a:t>12. Admin Dashboard</a:t>
            </a:r>
          </a:p>
          <a:p>
            <a:pPr>
              <a:spcAft>
                <a:spcPts val="800"/>
              </a:spcAft>
              <a:defRPr sz="950">
                <a:solidFill>
                  <a:srgbClr val="64748B"/>
                </a:solidFill>
                <a:latin typeface="Calibri"/>
              </a:defRPr>
            </a:pPr>
            <a:r>
              <a:t>Merchant approvals, dispute arbitration &amp; revenue reports.</a:t>
            </a:r>
          </a:p>
          <a:p>
            <a:pPr>
              <a:defRPr sz="1100" b="1">
                <a:solidFill>
                  <a:srgbClr val="0F172A"/>
                </a:solidFill>
                <a:latin typeface="Calibri"/>
              </a:defRPr>
            </a:pPr>
            <a:r>
              <a:t>13. Help, FAQ &amp; Policies</a:t>
            </a:r>
          </a:p>
          <a:p>
            <a:pPr>
              <a:spcAft>
                <a:spcPts val="800"/>
              </a:spcAft>
              <a:defRPr sz="950">
                <a:solidFill>
                  <a:srgbClr val="64748B"/>
                </a:solidFill>
                <a:latin typeface="Calibri"/>
              </a:defRPr>
            </a:pPr>
            <a:r>
              <a:t>Marketplace terms, return policies &amp; support ticket form.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1">
                <a:solidFill>
                  <a:srgbClr val="059669"/>
                </a:solidFill>
                <a:latin typeface="Calibri"/>
              </a:defRPr>
            </a:pPr>
            <a:r>
              <a:t>DEFENSE IN DEPTH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Georgia"/>
              </a:defRPr>
            </a:pPr>
            <a:r>
              <a:t>Security Architecture &amp; Privilege Boundaries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43584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Comprehensive safeguards preventing horizontal privilege escalation, data leaks, and unauthorized transactions.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190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  <a:r>
              <a:t>LocalLoop  •  Hyperlocal Digital Marketplace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19088"/>
            <a:ext cx="4873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516636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737360"/>
            <a:ext cx="5166360" cy="59436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847088"/>
            <a:ext cx="4709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 b="1">
                <a:solidFill>
                  <a:srgbClr val="059669"/>
                </a:solidFill>
                <a:latin typeface="Calibri"/>
              </a:defRPr>
            </a:pPr>
            <a:r>
              <a:t>JWT Authentication  —  Token Lifecycle &amp; Hashing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423160"/>
            <a:ext cx="47091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0F172A"/>
                </a:solidFill>
                <a:latin typeface="Calibri"/>
              </a:defRPr>
            </a:pPr>
            <a:r>
              <a:t>• Stateless JWT tokens stored in HttpOnly secure cookies or Auth headers.</a:t>
            </a:r>
          </a:p>
          <a:p>
            <a:pPr>
              <a:spcAft>
                <a:spcPts val="400"/>
              </a:spcAft>
              <a:defRPr sz="1000">
                <a:solidFill>
                  <a:srgbClr val="0F172A"/>
                </a:solidFill>
                <a:latin typeface="Calibri"/>
              </a:defRPr>
            </a:pPr>
            <a:r>
              <a:t>• BCrypt salt hashing with 10 rounds ensuring zero plaintext password exposure.</a:t>
            </a:r>
          </a:p>
          <a:p>
            <a:pPr>
              <a:spcAft>
                <a:spcPts val="400"/>
              </a:spcAft>
              <a:defRPr sz="1000">
                <a:solidFill>
                  <a:srgbClr val="0F172A"/>
                </a:solidFill>
                <a:latin typeface="Calibri"/>
              </a:defRPr>
            </a:pPr>
            <a:r>
              <a:t>• Token expiration &amp; automated refresh logic preventing replay attacks.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91072" y="1737360"/>
            <a:ext cx="516636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91072" y="1737360"/>
            <a:ext cx="5166360" cy="59436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9672" y="1847088"/>
            <a:ext cx="4709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 b="1">
                <a:solidFill>
                  <a:srgbClr val="4F46E5"/>
                </a:solidFill>
                <a:latin typeface="Calibri"/>
              </a:defRPr>
            </a:pPr>
            <a:r>
              <a:t>Role Authorization Guards  —  Middleware Boundary Gates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9672" y="2423160"/>
            <a:ext cx="47091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0F172A"/>
                </a:solidFill>
                <a:latin typeface="Calibri"/>
              </a:defRPr>
            </a:pPr>
            <a:r>
              <a:t>• verifyToken: Confirms authentic signature and extracts active user claims.</a:t>
            </a:r>
          </a:p>
          <a:p>
            <a:pPr>
              <a:spcAft>
                <a:spcPts val="400"/>
              </a:spcAft>
              <a:defRPr sz="1000">
                <a:solidFill>
                  <a:srgbClr val="0F172A"/>
                </a:solidFill>
                <a:latin typeface="Calibri"/>
              </a:defRPr>
            </a:pPr>
            <a:r>
              <a:t>• isSeller: Restricts shop and product mutation strictly to verified sellers.</a:t>
            </a:r>
          </a:p>
          <a:p>
            <a:pPr>
              <a:spcAft>
                <a:spcPts val="400"/>
              </a:spcAft>
              <a:defRPr sz="1000">
                <a:solidFill>
                  <a:srgbClr val="0F172A"/>
                </a:solidFill>
                <a:latin typeface="Calibri"/>
              </a:defRPr>
            </a:pPr>
            <a:r>
              <a:t>• isAdmin: Guards platform analytics, merchant approvals, and dispute resolution.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023360"/>
            <a:ext cx="516636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4023360"/>
            <a:ext cx="5166360" cy="59436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4133088"/>
            <a:ext cx="4709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 b="1">
                <a:solidFill>
                  <a:srgbClr val="F59E0B"/>
                </a:solidFill>
                <a:latin typeface="Calibri"/>
              </a:defRPr>
            </a:pPr>
            <a:r>
              <a:t>Data Ownership Enforcement  —  Horizontal Privilege Shield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4709160"/>
            <a:ext cx="47091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0F172A"/>
                </a:solidFill>
                <a:latin typeface="Calibri"/>
              </a:defRPr>
            </a:pPr>
            <a:r>
              <a:t>• Sellers restricted strictly to viewing and updating their own shop's orders.</a:t>
            </a:r>
          </a:p>
          <a:p>
            <a:pPr>
              <a:spcAft>
                <a:spcPts val="400"/>
              </a:spcAft>
              <a:defRPr sz="1000">
                <a:solidFill>
                  <a:srgbClr val="0F172A"/>
                </a:solidFill>
                <a:latin typeface="Calibri"/>
              </a:defRPr>
            </a:pPr>
            <a:r>
              <a:t>• Customers prevented from querying or intercepting another customer's order history.</a:t>
            </a:r>
          </a:p>
          <a:p>
            <a:pPr>
              <a:spcAft>
                <a:spcPts val="400"/>
              </a:spcAft>
              <a:defRPr sz="1000">
                <a:solidFill>
                  <a:srgbClr val="0F172A"/>
                </a:solidFill>
                <a:latin typeface="Calibri"/>
              </a:defRPr>
            </a:pPr>
            <a:r>
              <a:t>• Immutable order-item pricing snapshots preserve historical financial integrity.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91072" y="4023360"/>
            <a:ext cx="516636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91072" y="4023360"/>
            <a:ext cx="5166360" cy="59436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19672" y="4133088"/>
            <a:ext cx="4709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 b="1">
                <a:solidFill>
                  <a:srgbClr val="EF4444"/>
                </a:solidFill>
                <a:latin typeface="Calibri"/>
              </a:defRPr>
            </a:pPr>
            <a:r>
              <a:t>Transaction &amp; Payload Defense  —  Input Sanitization &amp; ACID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9672" y="4709160"/>
            <a:ext cx="47091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000">
                <a:solidFill>
                  <a:srgbClr val="0F172A"/>
                </a:solidFill>
                <a:latin typeface="Calibri"/>
              </a:defRPr>
            </a:pPr>
            <a:r>
              <a:t>• Server-side schema validation (Joi / Zod) rejects invalid prices and negative stock.</a:t>
            </a:r>
          </a:p>
          <a:p>
            <a:pPr>
              <a:spcAft>
                <a:spcPts val="400"/>
              </a:spcAft>
              <a:defRPr sz="1000">
                <a:solidFill>
                  <a:srgbClr val="0F172A"/>
                </a:solidFill>
                <a:latin typeface="Calibri"/>
              </a:defRPr>
            </a:pPr>
            <a:r>
              <a:t>• Idempotency keys prevent duplicate order charging on repeated button taps.</a:t>
            </a:r>
          </a:p>
          <a:p>
            <a:pPr>
              <a:spcAft>
                <a:spcPts val="400"/>
              </a:spcAft>
              <a:defRPr sz="1000">
                <a:solidFill>
                  <a:srgbClr val="0F172A"/>
                </a:solidFill>
                <a:latin typeface="Calibri"/>
              </a:defRPr>
            </a:pPr>
            <a:r>
              <a:t>• Protected refund execution: claims confirmed only when verified in audit logs.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1">
                <a:solidFill>
                  <a:srgbClr val="059669"/>
                </a:solidFill>
                <a:latin typeface="Calibri"/>
              </a:defRPr>
            </a:pPr>
            <a:r>
              <a:t>ENGINEERING BLUEPRINT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0F172A"/>
                </a:solidFill>
                <a:latin typeface="Georgia"/>
              </a:defRPr>
            </a:pPr>
            <a:r>
              <a:t>6-Stage Full-Stack Implementation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43584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Calibri"/>
              </a:defRPr>
            </a:pPr>
            <a:r>
              <a:t>Systematic phased delivery plan from project initialization to full end-to-end integration and testing.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190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  <a:r>
              <a:t>LocalLoop  •  Hyperlocal Digital Marketplace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19088"/>
            <a:ext cx="4873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000">
                <a:solidFill>
                  <a:srgbClr val="64748B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333756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1901952"/>
            <a:ext cx="1005840" cy="256032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92024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STAGE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1901952"/>
            <a:ext cx="1874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0F172A"/>
                </a:solidFill>
                <a:latin typeface="Calibri"/>
              </a:defRPr>
            </a:pPr>
            <a:r>
              <a:t>Foundation &amp; Design System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286000"/>
            <a:ext cx="2971800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950">
                <a:solidFill>
                  <a:srgbClr val="64748B"/>
                </a:solidFill>
                <a:latin typeface="Calibri"/>
              </a:defRPr>
            </a:pPr>
            <a:r>
              <a:t>• Vite + React frontend &amp; Tailwind CSS token system.</a:t>
            </a:r>
          </a:p>
          <a:p>
            <a:pPr>
              <a:spcAft>
                <a:spcPts val="200"/>
              </a:spcAft>
              <a:defRPr sz="950">
                <a:solidFill>
                  <a:srgbClr val="64748B"/>
                </a:solidFill>
                <a:latin typeface="Calibri"/>
              </a:defRPr>
            </a:pPr>
            <a:r>
              <a:t>• App routing shell, responsive navbar, and homepage.</a:t>
            </a:r>
          </a:p>
          <a:p>
            <a:pPr>
              <a:spcAft>
                <a:spcPts val="200"/>
              </a:spcAft>
              <a:defRPr sz="950">
                <a:solidFill>
                  <a:srgbClr val="64748B"/>
                </a:solidFill>
                <a:latin typeface="Calibri"/>
              </a:defRPr>
            </a:pPr>
            <a:r>
              <a:t>• Brand identity, UI components, and skeleton states.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25696" y="1737360"/>
            <a:ext cx="333756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08576" y="1901952"/>
            <a:ext cx="1005840" cy="256032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08576" y="192024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STAGE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05856" y="1901952"/>
            <a:ext cx="1874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0F172A"/>
                </a:solidFill>
                <a:latin typeface="Calibri"/>
              </a:defRPr>
            </a:pPr>
            <a:r>
              <a:t>Data Schemas &amp; Auth Gateway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08576" y="2286000"/>
            <a:ext cx="2971800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950">
                <a:solidFill>
                  <a:srgbClr val="64748B"/>
                </a:solidFill>
                <a:latin typeface="Calibri"/>
              </a:defRPr>
            </a:pPr>
            <a:r>
              <a:t>• MongoDB connection &amp; Mongoose models setup.</a:t>
            </a:r>
          </a:p>
          <a:p>
            <a:pPr>
              <a:spcAft>
                <a:spcPts val="200"/>
              </a:spcAft>
              <a:defRPr sz="950">
                <a:solidFill>
                  <a:srgbClr val="64748B"/>
                </a:solidFill>
                <a:latin typeface="Calibri"/>
              </a:defRPr>
            </a:pPr>
            <a:r>
              <a:t>• JWT registration &amp; login for Customer, Seller &amp; Admin.</a:t>
            </a:r>
          </a:p>
          <a:p>
            <a:pPr>
              <a:spcAft>
                <a:spcPts val="200"/>
              </a:spcAft>
              <a:defRPr sz="950">
                <a:solidFill>
                  <a:srgbClr val="64748B"/>
                </a:solidFill>
                <a:latin typeface="Calibri"/>
              </a:defRPr>
            </a:pPr>
            <a:r>
              <a:t>• Role guard middleware and password hashing with bcrypt.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1737360"/>
            <a:ext cx="333756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302752" y="1901952"/>
            <a:ext cx="1005840" cy="256032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02752" y="192024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STAGE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00032" y="1901952"/>
            <a:ext cx="1874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0F172A"/>
                </a:solidFill>
                <a:latin typeface="Calibri"/>
              </a:defRPr>
            </a:pPr>
            <a:r>
              <a:t>Discovery &amp; Storefront Engine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02752" y="2286000"/>
            <a:ext cx="2971800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950">
                <a:solidFill>
                  <a:srgbClr val="64748B"/>
                </a:solidFill>
                <a:latin typeface="Calibri"/>
              </a:defRPr>
            </a:pPr>
            <a:r>
              <a:t>• Hyperlocal geolocation and postal radius filtering.</a:t>
            </a:r>
          </a:p>
          <a:p>
            <a:pPr>
              <a:spcAft>
                <a:spcPts val="200"/>
              </a:spcAft>
              <a:defRPr sz="950">
                <a:solidFill>
                  <a:srgbClr val="64748B"/>
                </a:solidFill>
                <a:latin typeface="Calibri"/>
              </a:defRPr>
            </a:pPr>
            <a:r>
              <a:t>• Seller storefront creation &amp; product inventory catalog.</a:t>
            </a:r>
          </a:p>
          <a:p>
            <a:pPr>
              <a:spcAft>
                <a:spcPts val="200"/>
              </a:spcAft>
              <a:defRPr sz="950">
                <a:solidFill>
                  <a:srgbClr val="64748B"/>
                </a:solidFill>
                <a:latin typeface="Calibri"/>
              </a:defRPr>
            </a:pPr>
            <a:r>
              <a:t>• Cart persistence, wishlist, and 4-way comparison matrix.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023360"/>
            <a:ext cx="333756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14400" y="4187952"/>
            <a:ext cx="1005840" cy="256032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20624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STAGE 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11680" y="4187952"/>
            <a:ext cx="1874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0F172A"/>
                </a:solidFill>
                <a:latin typeface="Calibri"/>
              </a:defRPr>
            </a:pPr>
            <a:r>
              <a:t>Order Lifecycle &amp; Returns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572000"/>
            <a:ext cx="2971800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950">
                <a:solidFill>
                  <a:srgbClr val="64748B"/>
                </a:solidFill>
                <a:latin typeface="Calibri"/>
              </a:defRPr>
            </a:pPr>
            <a:r>
              <a:t>• Atomic stock checkout &amp; test payment simulation.</a:t>
            </a:r>
          </a:p>
          <a:p>
            <a:pPr>
              <a:spcAft>
                <a:spcPts val="200"/>
              </a:spcAft>
              <a:defRPr sz="950">
                <a:solidFill>
                  <a:srgbClr val="64748B"/>
                </a:solidFill>
                <a:latin typeface="Calibri"/>
              </a:defRPr>
            </a:pPr>
            <a:r>
              <a:t>• Visual order tracking timeline (Placed to Delivered).</a:t>
            </a:r>
          </a:p>
          <a:p>
            <a:pPr>
              <a:spcAft>
                <a:spcPts val="200"/>
              </a:spcAft>
              <a:defRPr sz="950">
                <a:solidFill>
                  <a:srgbClr val="64748B"/>
                </a:solidFill>
                <a:latin typeface="Calibri"/>
              </a:defRPr>
            </a:pPr>
            <a:r>
              <a:t>• Returns submission with photo upload &amp; seller refund approval.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25696" y="4023360"/>
            <a:ext cx="333756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608576" y="4187952"/>
            <a:ext cx="1005840" cy="256032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08576" y="420624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STAGE 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05856" y="4187952"/>
            <a:ext cx="1874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0F172A"/>
                </a:solidFill>
                <a:latin typeface="Calibri"/>
              </a:defRPr>
            </a:pPr>
            <a:r>
              <a:t>Analytics &amp; Admin Governance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08576" y="4572000"/>
            <a:ext cx="2971800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950">
                <a:solidFill>
                  <a:srgbClr val="64748B"/>
                </a:solidFill>
                <a:latin typeface="Calibri"/>
              </a:defRPr>
            </a:pPr>
            <a:r>
              <a:t>• Seller Recharts dashboards (revenue, orders, popular SKUs).</a:t>
            </a:r>
          </a:p>
          <a:p>
            <a:pPr>
              <a:spcAft>
                <a:spcPts val="200"/>
              </a:spcAft>
              <a:defRPr sz="950">
                <a:solidFill>
                  <a:srgbClr val="64748B"/>
                </a:solidFill>
                <a:latin typeface="Calibri"/>
              </a:defRPr>
            </a:pPr>
            <a:r>
              <a:t>• Admin moderation (merchant verification, dispute ruling).</a:t>
            </a:r>
          </a:p>
          <a:p>
            <a:pPr>
              <a:spcAft>
                <a:spcPts val="200"/>
              </a:spcAft>
              <a:defRPr sz="950">
                <a:solidFill>
                  <a:srgbClr val="64748B"/>
                </a:solidFill>
                <a:latin typeface="Calibri"/>
              </a:defRPr>
            </a:pPr>
            <a:r>
              <a:t>• Personalized recommendations and in-app notifications.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19872" y="4023360"/>
            <a:ext cx="333756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302752" y="4187952"/>
            <a:ext cx="1005840" cy="256032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02752" y="4206240"/>
            <a:ext cx="10058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STAGE 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00032" y="4187952"/>
            <a:ext cx="1874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0F172A"/>
                </a:solidFill>
                <a:latin typeface="Calibri"/>
              </a:defRPr>
            </a:pPr>
            <a:r>
              <a:t>End-to-End Testing &amp; QA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02752" y="4572000"/>
            <a:ext cx="2971800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  <a:defRPr sz="950">
                <a:solidFill>
                  <a:srgbClr val="64748B"/>
                </a:solidFill>
                <a:latin typeface="Calibri"/>
              </a:defRPr>
            </a:pPr>
            <a:r>
              <a:t>• Validation of all 12 core acceptance workflows.</a:t>
            </a:r>
          </a:p>
          <a:p>
            <a:pPr>
              <a:spcAft>
                <a:spcPts val="200"/>
              </a:spcAft>
              <a:defRPr sz="950">
                <a:solidFill>
                  <a:srgbClr val="64748B"/>
                </a:solidFill>
                <a:latin typeface="Calibri"/>
              </a:defRPr>
            </a:pPr>
            <a:r>
              <a:t>• Error handling, boundary security testing, and mobile QA.</a:t>
            </a:r>
          </a:p>
          <a:p>
            <a:pPr>
              <a:spcAft>
                <a:spcPts val="200"/>
              </a:spcAft>
              <a:defRPr sz="950">
                <a:solidFill>
                  <a:srgbClr val="64748B"/>
                </a:solidFill>
                <a:latin typeface="Calibri"/>
              </a:defRPr>
            </a:pPr>
            <a:r>
              <a:t>• Production README documentation &amp; demo seed accounts.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72865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1">
                <a:solidFill>
                  <a:srgbClr val="10B981"/>
                </a:solidFill>
                <a:latin typeface="Calibri"/>
              </a:defRPr>
            </a:pPr>
            <a:r>
              <a:t>QUALITY ASSURANCE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13232"/>
            <a:ext cx="10728655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Georgia"/>
              </a:defRPr>
            </a:pPr>
            <a:r>
              <a:t>12 Core Acceptance Criteria &amp; Live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43584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Rigorous end-to-end operational criteria verifying complete marketplace workflows across all 3 roles.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10728655" cy="2926080"/>
          </a:xfrm>
          <a:prstGeom prst="roundRect">
            <a:avLst/>
          </a:prstGeom>
          <a:solidFill>
            <a:srgbClr val="102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80015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005840" y="1828800"/>
            <a:ext cx="5029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50" b="1">
                <a:solidFill>
                  <a:srgbClr val="A7F3D0"/>
                </a:solidFill>
                <a:latin typeface="Calibri"/>
              </a:defRPr>
            </a:pPr>
            <a:r>
              <a:t>✓  1. Seller registration &amp; digital shop creation workflow verified.</a:t>
            </a:r>
          </a:p>
          <a:p>
            <a:pPr>
              <a:spcAft>
                <a:spcPts val="700"/>
              </a:spcAft>
              <a:defRPr sz="1050" b="1">
                <a:solidFill>
                  <a:srgbClr val="A7F3D0"/>
                </a:solidFill>
                <a:latin typeface="Calibri"/>
              </a:defRPr>
            </a:pPr>
            <a:r>
              <a:t>✓  2. Administrator verification, approval, or suspension of merchant accounts.</a:t>
            </a:r>
          </a:p>
          <a:p>
            <a:pPr>
              <a:spcAft>
                <a:spcPts val="700"/>
              </a:spcAft>
              <a:defRPr sz="1050" b="1">
                <a:solidFill>
                  <a:srgbClr val="A7F3D0"/>
                </a:solidFill>
                <a:latin typeface="Calibri"/>
              </a:defRPr>
            </a:pPr>
            <a:r>
              <a:t>✓  3. Seller product listing with photo upload &amp; initial stock assignment.</a:t>
            </a:r>
          </a:p>
          <a:p>
            <a:pPr>
              <a:spcAft>
                <a:spcPts val="700"/>
              </a:spcAft>
              <a:defRPr sz="1050" b="1">
                <a:solidFill>
                  <a:srgbClr val="A7F3D0"/>
                </a:solidFill>
                <a:latin typeface="Calibri"/>
              </a:defRPr>
            </a:pPr>
            <a:r>
              <a:t>✓  4. Customer hyperlocal product discovery &amp; 4-way multi-store comparison.</a:t>
            </a:r>
          </a:p>
          <a:p>
            <a:pPr>
              <a:spcAft>
                <a:spcPts val="700"/>
              </a:spcAft>
              <a:defRPr sz="1050" b="1">
                <a:solidFill>
                  <a:srgbClr val="A7F3D0"/>
                </a:solidFill>
                <a:latin typeface="Calibri"/>
              </a:defRPr>
            </a:pPr>
            <a:r>
              <a:t>✓  5. Cart addition and checkout completion with mock/demo payment flow.</a:t>
            </a:r>
          </a:p>
          <a:p>
            <a:pPr>
              <a:spcAft>
                <a:spcPts val="700"/>
              </a:spcAft>
              <a:defRPr sz="1050" b="1">
                <a:solidFill>
                  <a:srgbClr val="A7F3D0"/>
                </a:solidFill>
                <a:latin typeface="Calibri"/>
              </a:defRPr>
            </a:pPr>
            <a:r>
              <a:t>✓  6. Real-time seller order receipt, sound alert, and status update processing.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828800"/>
            <a:ext cx="5029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050" b="1">
                <a:solidFill>
                  <a:srgbClr val="A7F3D0"/>
                </a:solidFill>
                <a:latin typeface="Calibri"/>
              </a:defRPr>
            </a:pPr>
            <a:r>
              <a:t>✓  7. Customer live delivery progress tracking with visual event timeline.</a:t>
            </a:r>
          </a:p>
          <a:p>
            <a:pPr>
              <a:spcAft>
                <a:spcPts val="700"/>
              </a:spcAft>
              <a:defRPr sz="1050" b="1">
                <a:solidFill>
                  <a:srgbClr val="A7F3D0"/>
                </a:solidFill>
                <a:latin typeface="Calibri"/>
              </a:defRPr>
            </a:pPr>
            <a:r>
              <a:t>✓  8. Customer return submission with photo evidence &amp; seller approval cycle.</a:t>
            </a:r>
          </a:p>
          <a:p>
            <a:pPr>
              <a:spcAft>
                <a:spcPts val="700"/>
              </a:spcAft>
              <a:defRPr sz="1050" b="1">
                <a:solidFill>
                  <a:srgbClr val="A7F3D0"/>
                </a:solidFill>
                <a:latin typeface="Calibri"/>
              </a:defRPr>
            </a:pPr>
            <a:r>
              <a:t>✓  9. Real-time atomic inventory deduction &amp; restoration upon return/cancellation.</a:t>
            </a:r>
          </a:p>
          <a:p>
            <a:pPr>
              <a:spcAft>
                <a:spcPts val="700"/>
              </a:spcAft>
              <a:defRPr sz="1050" b="1">
                <a:solidFill>
                  <a:srgbClr val="A7F3D0"/>
                </a:solidFill>
                <a:latin typeface="Calibri"/>
              </a:defRPr>
            </a:pPr>
            <a:r>
              <a:t>✓  10. Seller dashboard calculating live revenue &amp; order analytics from DB records.</a:t>
            </a:r>
          </a:p>
          <a:p>
            <a:pPr>
              <a:spcAft>
                <a:spcPts val="700"/>
              </a:spcAft>
              <a:defRPr sz="1050" b="1">
                <a:solidFill>
                  <a:srgbClr val="A7F3D0"/>
                </a:solidFill>
                <a:latin typeface="Calibri"/>
              </a:defRPr>
            </a:pPr>
            <a:r>
              <a:t>✓  11. Administrator dispute resolution and marketplace policy management.</a:t>
            </a:r>
          </a:p>
          <a:p>
            <a:pPr>
              <a:spcAft>
                <a:spcPts val="700"/>
              </a:spcAft>
              <a:defRPr sz="1050" b="1">
                <a:solidFill>
                  <a:srgbClr val="A7F3D0"/>
                </a:solidFill>
                <a:latin typeface="Calibri"/>
              </a:defRPr>
            </a:pPr>
            <a:r>
              <a:t>✓  12. Strict RBAC enforcement preventing unauthorized cross-role data access.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4846320"/>
            <a:ext cx="8534095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400"/>
              </a:spcAft>
              <a:defRPr sz="2800" b="1">
                <a:solidFill>
                  <a:srgbClr val="FFFFFF"/>
                </a:solidFill>
                <a:latin typeface="Georgia"/>
              </a:defRPr>
            </a:pPr>
            <a:r>
              <a:t>LocalLoop — Hyperlocal Digital Marketplace</a:t>
            </a:r>
          </a:p>
          <a:p>
            <a:pPr algn="ctr">
              <a:spcAft>
                <a:spcPts val="400"/>
              </a:spcAft>
              <a:defRPr sz="1300" b="1">
                <a:solidFill>
                  <a:srgbClr val="10B981"/>
                </a:solidFill>
                <a:latin typeface="Calibri"/>
              </a:defRPr>
            </a:pPr>
            <a:r>
              <a:t>Full-Stack Web Applications x E-Commerce  •  Ready for Antigravity Implementation</a:t>
            </a:r>
          </a:p>
          <a:p>
            <a:pPr algn="ctr">
              <a:defRPr sz="1100">
                <a:solidFill>
                  <a:srgbClr val="94A3B8"/>
                </a:solidFill>
                <a:latin typeface="Calibri"/>
              </a:defRPr>
            </a:pPr>
            <a:r>
              <a:t>Customer • Seller • Administrator  |  Full End-to-End Architectural Blueprint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190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Calibri"/>
              </a:defRPr>
            </a:pPr>
            <a:r>
              <a:t>LocalLoop  •  Hyperlocal Digital Marketplace Architecture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19088"/>
            <a:ext cx="48737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000">
                <a:solidFill>
                  <a:srgbClr val="94A3B8"/>
                </a:solidFill>
                <a:latin typeface="Calibri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