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6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6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6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image" Target="../media/image4.png"/><Relationship Id="rId4" Type="http://schemas.openxmlformats.org/officeDocument/2006/relationships/image" Target="../media/image8.png"/><Relationship Id="rId5" Type="http://schemas.openxmlformats.org/officeDocument/2006/relationships/image" Target="../media/image9.png"/><Relationship Id="rId6" Type="http://schemas.openxmlformats.org/officeDocument/2006/relationships/image" Target="../media/image10.png"/><Relationship Id="rId7" Type="http://schemas.openxmlformats.org/officeDocument/2006/relationships/image" Target="../media/image1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Relationship Id="rId3" Type="http://schemas.openxmlformats.org/officeDocument/2006/relationships/image" Target="../media/image13.png"/><Relationship Id="rId4" Type="http://schemas.openxmlformats.org/officeDocument/2006/relationships/image" Target="../media/image6.png"/><Relationship Id="rId5" Type="http://schemas.openxmlformats.org/officeDocument/2006/relationships/image" Target="../media/image14.png"/><Relationship Id="rId6" Type="http://schemas.openxmlformats.org/officeDocument/2006/relationships/image" Target="../media/image15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Relationship Id="rId3" Type="http://schemas.openxmlformats.org/officeDocument/2006/relationships/image" Target="../media/image5.png"/><Relationship Id="rId4" Type="http://schemas.openxmlformats.org/officeDocument/2006/relationships/image" Target="../media/image13.png"/><Relationship Id="rId5" Type="http://schemas.openxmlformats.org/officeDocument/2006/relationships/image" Target="../media/image6.png"/><Relationship Id="rId6" Type="http://schemas.openxmlformats.org/officeDocument/2006/relationships/image" Target="../media/image16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17.png"/><Relationship Id="rId4" Type="http://schemas.openxmlformats.org/officeDocument/2006/relationships/image" Target="../media/image18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931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6858000" cy="3840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5600" b="1">
                <a:solidFill>
                  <a:srgbClr val="FFFFFF"/>
                </a:solidFill>
                <a:latin typeface="Georgia"/>
              </a:defRPr>
            </a:pPr>
            <a:r>
              <a:t>LocalKaart</a:t>
            </a:r>
          </a:p>
          <a:p>
            <a:pPr>
              <a:spcAft>
                <a:spcPts val="4800"/>
              </a:spcAft>
              <a:defRPr sz="2400" b="1">
                <a:solidFill>
                  <a:srgbClr val="F5A623"/>
                </a:solidFill>
                <a:latin typeface="Calibri"/>
              </a:defRPr>
            </a:pPr>
            <a:r>
              <a:t>Your neighbourhood, online</a:t>
            </a:r>
          </a:p>
          <a:p>
            <a:pPr>
              <a:spcAft>
                <a:spcPts val="600"/>
              </a:spcAft>
              <a:defRPr sz="1300">
                <a:solidFill>
                  <a:srgbClr val="9FB2BB"/>
                </a:solidFill>
                <a:latin typeface="Calibri"/>
              </a:defRPr>
            </a:pPr>
            <a:r>
              <a:t>Hackathon theme: Full-Stack Web Applications x E-Commerce</a:t>
            </a:r>
          </a:p>
          <a:p>
            <a:pPr>
              <a:defRPr sz="1600" b="1">
                <a:solidFill>
                  <a:srgbClr val="FFFFFF"/>
                </a:solidFill>
                <a:latin typeface="Calibri"/>
              </a:defRPr>
            </a:pPr>
            <a:r>
              <a:t>Team Hexapulse  |  KLE Technological University</a:t>
            </a:r>
          </a:p>
        </p:txBody>
      </p:sp>
      <p:pic>
        <p:nvPicPr>
          <p:cNvPr id="4" name="Picture 3" descr="hero_sto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46720" y="1645920"/>
            <a:ext cx="3291840" cy="329184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02920"/>
            <a:ext cx="10728655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800" b="1">
                <a:solidFill>
                  <a:srgbClr val="11232B"/>
                </a:solidFill>
                <a:latin typeface="Georgia"/>
              </a:defRPr>
            </a:pPr>
            <a:r>
              <a:t>The problem local sellers face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15568"/>
            <a:ext cx="10728655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350">
                <a:solidFill>
                  <a:srgbClr val="4A5860"/>
                </a:solidFill>
                <a:latin typeface="Calibri"/>
              </a:defRPr>
            </a:pPr>
            <a:r>
              <a:t>Small enterprises sell through shops and social media, but growth is hard.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00800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00">
                <a:solidFill>
                  <a:srgbClr val="8B9BA5"/>
                </a:solidFill>
                <a:latin typeface="Calibri"/>
              </a:defRPr>
            </a:pPr>
            <a:r>
              <a:t>LocalKaart  |  Team Hexapulse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00800"/>
            <a:ext cx="48737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defRPr sz="1000">
                <a:solidFill>
                  <a:srgbClr val="8B9BA5"/>
                </a:solidFill>
                <a:latin typeface="Calibri"/>
              </a:defRPr>
            </a:pPr>
            <a:r>
              <a:t>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783080"/>
            <a:ext cx="3337560" cy="4297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6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badge_megapho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2148840"/>
            <a:ext cx="777240" cy="77724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097280" y="3108960"/>
            <a:ext cx="2606040" cy="2834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400"/>
              </a:spcAft>
              <a:defRPr sz="1800" b="1">
                <a:solidFill>
                  <a:srgbClr val="11232B"/>
                </a:solidFill>
                <a:latin typeface="Calibri"/>
              </a:defRPr>
            </a:pPr>
            <a:r>
              <a:t>Limited reach</a:t>
            </a:r>
          </a:p>
          <a:p>
            <a:pPr>
              <a:spcAft>
                <a:spcPts val="1000"/>
              </a:spcAft>
              <a:defRPr sz="1200">
                <a:solidFill>
                  <a:srgbClr val="4B5963"/>
                </a:solidFill>
                <a:latin typeface="Calibri"/>
              </a:defRPr>
            </a:pPr>
            <a:r>
              <a:t>•  Customers find them by walking past or through scattered social posts.</a:t>
            </a:r>
          </a:p>
          <a:p>
            <a:pPr>
              <a:spcAft>
                <a:spcPts val="1000"/>
              </a:spcAft>
              <a:defRPr sz="1200">
                <a:solidFill>
                  <a:srgbClr val="4B5963"/>
                </a:solidFill>
                <a:latin typeface="Calibri"/>
              </a:defRPr>
            </a:pPr>
            <a:r>
              <a:t>•  Zero searchable digital presence for neighborhood residents 500m away.</a:t>
            </a:r>
          </a:p>
          <a:p>
            <a:pPr>
              <a:spcAft>
                <a:spcPts val="1000"/>
              </a:spcAft>
              <a:defRPr sz="1200">
                <a:solidFill>
                  <a:srgbClr val="4B5963"/>
                </a:solidFill>
                <a:latin typeface="Calibri"/>
              </a:defRPr>
            </a:pPr>
            <a:r>
              <a:t>•  Missed sales from high-intent local buyers ordering online.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25696" y="1783080"/>
            <a:ext cx="3337560" cy="4297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6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badge_clipboar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91456" y="2148840"/>
            <a:ext cx="777240" cy="77724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4791456" y="3108960"/>
            <a:ext cx="2606040" cy="2834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400"/>
              </a:spcAft>
              <a:defRPr sz="1800" b="1">
                <a:solidFill>
                  <a:srgbClr val="11232B"/>
                </a:solidFill>
                <a:latin typeface="Calibri"/>
              </a:defRPr>
            </a:pPr>
            <a:r>
              <a:t>Manual operations</a:t>
            </a:r>
          </a:p>
          <a:p>
            <a:pPr>
              <a:spcAft>
                <a:spcPts val="1000"/>
              </a:spcAft>
              <a:defRPr sz="1200">
                <a:solidFill>
                  <a:srgbClr val="4B5963"/>
                </a:solidFill>
                <a:latin typeface="Calibri"/>
              </a:defRPr>
            </a:pPr>
            <a:r>
              <a:t>•  Orders and stock live on paper, messy WhatsApp chats, or phone calls.</a:t>
            </a:r>
          </a:p>
          <a:p>
            <a:pPr>
              <a:spcAft>
                <a:spcPts val="1000"/>
              </a:spcAft>
              <a:defRPr sz="1200">
                <a:solidFill>
                  <a:srgbClr val="4B5963"/>
                </a:solidFill>
                <a:latin typeface="Calibri"/>
              </a:defRPr>
            </a:pPr>
            <a:r>
              <a:t>•  Over-the-counter sales conflict with online orders, causing cancellations.</a:t>
            </a:r>
          </a:p>
          <a:p>
            <a:pPr>
              <a:spcAft>
                <a:spcPts val="1000"/>
              </a:spcAft>
              <a:defRPr sz="1200">
                <a:solidFill>
                  <a:srgbClr val="4B5963"/>
                </a:solidFill>
                <a:latin typeface="Calibri"/>
              </a:defRPr>
            </a:pPr>
            <a:r>
              <a:t>•  No automated stock tracking, low-inventory alerts, or delivery logs.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19872" y="1783080"/>
            <a:ext cx="3337560" cy="4297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6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badge_scal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85632" y="2148840"/>
            <a:ext cx="777240" cy="77724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8485632" y="3108960"/>
            <a:ext cx="2606040" cy="2834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400"/>
              </a:spcAft>
              <a:defRPr sz="1800" b="1">
                <a:solidFill>
                  <a:srgbClr val="11232B"/>
                </a:solidFill>
                <a:latin typeface="Calibri"/>
              </a:defRPr>
            </a:pPr>
            <a:r>
              <a:t>Big-player pressure</a:t>
            </a:r>
          </a:p>
          <a:p>
            <a:pPr>
              <a:spcAft>
                <a:spcPts val="1000"/>
              </a:spcAft>
              <a:defRPr sz="1200">
                <a:solidFill>
                  <a:srgbClr val="4B5963"/>
                </a:solidFill>
                <a:latin typeface="Calibri"/>
              </a:defRPr>
            </a:pPr>
            <a:r>
              <a:t>•  Large e-commerce and delivery apps win on visibility and convenience.</a:t>
            </a:r>
          </a:p>
          <a:p>
            <a:pPr>
              <a:spcAft>
                <a:spcPts val="1000"/>
              </a:spcAft>
              <a:defRPr sz="1200">
                <a:solidFill>
                  <a:srgbClr val="4B5963"/>
                </a:solidFill>
                <a:latin typeface="Calibri"/>
              </a:defRPr>
            </a:pPr>
            <a:r>
              <a:t>•  Mega aggregators charge 18% to 35% commission on 10–15% profit margins.</a:t>
            </a:r>
          </a:p>
          <a:p>
            <a:pPr>
              <a:spcAft>
                <a:spcPts val="1000"/>
              </a:spcAft>
              <a:defRPr sz="1200">
                <a:solidFill>
                  <a:srgbClr val="4B5963"/>
                </a:solidFill>
                <a:latin typeface="Calibri"/>
              </a:defRPr>
            </a:pPr>
            <a:r>
              <a:t>•  National delivery takes 2–4 days for items already on the user's block.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02920"/>
            <a:ext cx="10728655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800" b="1">
                <a:solidFill>
                  <a:srgbClr val="11232B"/>
                </a:solidFill>
                <a:latin typeface="Georgia"/>
              </a:defRPr>
            </a:pPr>
            <a:r>
              <a:t>In-depth problem breakdown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15568"/>
            <a:ext cx="10728655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350">
                <a:solidFill>
                  <a:srgbClr val="4A5860"/>
                </a:solidFill>
                <a:latin typeface="Calibri"/>
              </a:defRPr>
            </a:pPr>
            <a:r>
              <a:t>Understanding the structural friction across both sides of neighborhood commerce.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00800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00">
                <a:solidFill>
                  <a:srgbClr val="8B9BA5"/>
                </a:solidFill>
                <a:latin typeface="Calibri"/>
              </a:defRPr>
            </a:pPr>
            <a:r>
              <a:t>LocalKaart  |  Team Hexapulse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00800"/>
            <a:ext cx="48737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defRPr sz="1000">
                <a:solidFill>
                  <a:srgbClr val="8B9BA5"/>
                </a:solidFill>
                <a:latin typeface="Calibri"/>
              </a:defRPr>
            </a:pPr>
            <a:r>
              <a:t>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783080"/>
            <a:ext cx="5166360" cy="4297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6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badge_sto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2148840"/>
            <a:ext cx="777240" cy="77724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097280" y="3108960"/>
            <a:ext cx="4434840" cy="2834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  <a:defRPr sz="1700" b="1">
                <a:solidFill>
                  <a:srgbClr val="11232B"/>
                </a:solidFill>
                <a:latin typeface="Calibri"/>
              </a:defRPr>
            </a:pPr>
            <a:r>
              <a:t>The Seller's Perspective (Merchant Hurdles)</a:t>
            </a:r>
          </a:p>
          <a:p>
            <a:pPr>
              <a:spcAft>
                <a:spcPts val="700"/>
              </a:spcAft>
              <a:defRPr sz="1150">
                <a:solidFill>
                  <a:srgbClr val="4B5963"/>
                </a:solidFill>
                <a:latin typeface="Calibri"/>
              </a:defRPr>
            </a:pPr>
            <a:r>
              <a:t>•  Manual Order Overhead: WhatsApp chats &amp; calls lead to lost orders and delivery errors.</a:t>
            </a:r>
          </a:p>
          <a:p>
            <a:pPr>
              <a:spcAft>
                <a:spcPts val="700"/>
              </a:spcAft>
              <a:defRPr sz="1150">
                <a:solidFill>
                  <a:srgbClr val="4B5963"/>
                </a:solidFill>
                <a:latin typeface="Calibri"/>
              </a:defRPr>
            </a:pPr>
            <a:r>
              <a:t>•  Double-Selling &amp; Stock Desync: Counter sales aren't synced online, causing cancellations.</a:t>
            </a:r>
          </a:p>
          <a:p>
            <a:pPr>
              <a:spcAft>
                <a:spcPts val="700"/>
              </a:spcAft>
              <a:defRPr sz="1150">
                <a:solidFill>
                  <a:srgbClr val="4B5963"/>
                </a:solidFill>
                <a:latin typeface="Calibri"/>
              </a:defRPr>
            </a:pPr>
            <a:r>
              <a:t>•  Crushing Aggregator Tolls: 18%–35% platform fees make micro-business survival impossible.</a:t>
            </a:r>
          </a:p>
          <a:p>
            <a:pPr>
              <a:spcAft>
                <a:spcPts val="700"/>
              </a:spcAft>
              <a:defRPr sz="1150">
                <a:solidFill>
                  <a:srgbClr val="4B5963"/>
                </a:solidFill>
                <a:latin typeface="Calibri"/>
              </a:defRPr>
            </a:pPr>
            <a:r>
              <a:t>•  Zero Demand Analytics: No data on repeat purchases, peak buying hours, or fast movers.</a:t>
            </a:r>
          </a:p>
          <a:p>
            <a:pPr>
              <a:spcAft>
                <a:spcPts val="700"/>
              </a:spcAft>
              <a:defRPr sz="1150">
                <a:solidFill>
                  <a:srgbClr val="4B5963"/>
                </a:solidFill>
                <a:latin typeface="Calibri"/>
              </a:defRPr>
            </a:pPr>
            <a:r>
              <a:t>•  Complex Technical Onboarding: Existing portals require complex desktop Excel sheets and GST delays.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1783080"/>
            <a:ext cx="5166360" cy="4297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6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badge_car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56832" y="2148840"/>
            <a:ext cx="777240" cy="77724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6656832" y="3108960"/>
            <a:ext cx="4434840" cy="2834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  <a:defRPr sz="1700" b="1">
                <a:solidFill>
                  <a:srgbClr val="11232B"/>
                </a:solidFill>
                <a:latin typeface="Calibri"/>
              </a:defRPr>
            </a:pPr>
            <a:r>
              <a:t>The Buyer's Perspective (Consumer Hurdles)</a:t>
            </a:r>
          </a:p>
          <a:p>
            <a:pPr>
              <a:spcAft>
                <a:spcPts val="700"/>
              </a:spcAft>
              <a:defRPr sz="1150">
                <a:solidFill>
                  <a:srgbClr val="4B5963"/>
                </a:solidFill>
                <a:latin typeface="Calibri"/>
              </a:defRPr>
            </a:pPr>
            <a:r>
              <a:t>•  Zero Local Visibility: Need an item in 1–2 hours, but don't know which shop 500m away has it.</a:t>
            </a:r>
          </a:p>
          <a:p>
            <a:pPr>
              <a:spcAft>
                <a:spcPts val="700"/>
              </a:spcAft>
              <a:defRPr sz="1150">
                <a:solidFill>
                  <a:srgbClr val="4B5963"/>
                </a:solidFill>
                <a:latin typeface="Calibri"/>
              </a:defRPr>
            </a:pPr>
            <a:r>
              <a:t>•  Fragmented Discovery: Must walk store-to-store or browse disjointed social feeds without checkout.</a:t>
            </a:r>
          </a:p>
          <a:p>
            <a:pPr>
              <a:spcAft>
                <a:spcPts val="700"/>
              </a:spcAft>
              <a:defRPr sz="1150">
                <a:solidFill>
                  <a:srgbClr val="4B5963"/>
                </a:solidFill>
                <a:latin typeface="Calibri"/>
              </a:defRPr>
            </a:pPr>
            <a:r>
              <a:t>•  Price Disparity &amp; Opacity: No easy way to compare basket prices across neighborhood shops.</a:t>
            </a:r>
          </a:p>
          <a:p>
            <a:pPr>
              <a:spcAft>
                <a:spcPts val="700"/>
              </a:spcAft>
              <a:defRPr sz="1150">
                <a:solidFill>
                  <a:srgbClr val="4B5963"/>
                </a:solidFill>
                <a:latin typeface="Calibri"/>
              </a:defRPr>
            </a:pPr>
            <a:r>
              <a:t>•  Sluggish 2–4 Day Shipping: National e-commerce takes days for items already on their block.</a:t>
            </a:r>
          </a:p>
          <a:p>
            <a:pPr>
              <a:spcAft>
                <a:spcPts val="700"/>
              </a:spcAft>
              <a:defRPr sz="1150">
                <a:solidFill>
                  <a:srgbClr val="4B5963"/>
                </a:solidFill>
                <a:latin typeface="Calibri"/>
              </a:defRPr>
            </a:pPr>
            <a:r>
              <a:t>•  Payment &amp; Tracking Friction: Manual UPI screenshots and repeated follow-up calls to check status.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02920"/>
            <a:ext cx="10728655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800" b="1">
                <a:solidFill>
                  <a:srgbClr val="11232B"/>
                </a:solidFill>
                <a:latin typeface="Georgia"/>
              </a:defRPr>
            </a:pPr>
            <a:r>
              <a:t>Our solution: LocalKaart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15568"/>
            <a:ext cx="10728655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350">
                <a:solidFill>
                  <a:srgbClr val="4A5860"/>
                </a:solidFill>
                <a:latin typeface="Calibri"/>
              </a:defRPr>
            </a:pPr>
            <a:r>
              <a:t>A unified hyper-local marketplace that bridges neighborhood shops and consumers.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00800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00">
                <a:solidFill>
                  <a:srgbClr val="8B9BA5"/>
                </a:solidFill>
                <a:latin typeface="Calibri"/>
              </a:defRPr>
            </a:pPr>
            <a:r>
              <a:t>LocalKaart  |  Team Hexapulse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00800"/>
            <a:ext cx="48737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defRPr sz="1000">
                <a:solidFill>
                  <a:srgbClr val="8B9BA5"/>
                </a:solidFill>
                <a:latin typeface="Calibri"/>
              </a:defRPr>
            </a:pPr>
            <a:r>
              <a:t>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783080"/>
            <a:ext cx="5166360" cy="4297680"/>
          </a:xfrm>
          <a:prstGeom prst="roundRect">
            <a:avLst/>
          </a:prstGeom>
          <a:solidFill>
            <a:srgbClr val="1931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148840"/>
            <a:ext cx="4434840" cy="3657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400"/>
              </a:spcAft>
              <a:defRPr sz="1100" b="1">
                <a:solidFill>
                  <a:srgbClr val="F5A623"/>
                </a:solidFill>
                <a:latin typeface="Calibri"/>
              </a:defRPr>
            </a:pPr>
            <a:r>
              <a:t>O N E   P L A T F O R M</a:t>
            </a:r>
          </a:p>
          <a:p>
            <a:pPr>
              <a:spcAft>
                <a:spcPts val="1400"/>
              </a:spcAft>
              <a:defRPr sz="2600" b="1">
                <a:solidFill>
                  <a:srgbClr val="FFFFFF"/>
                </a:solidFill>
                <a:latin typeface="Georgia"/>
              </a:defRPr>
            </a:pPr>
            <a:r>
              <a:t>Local sellers go online.</a:t>
            </a:r>
            <a:br/>
            <a:r>
              <a:t>Neighbours shop local.</a:t>
            </a:r>
          </a:p>
          <a:p>
            <a:pPr>
              <a:spcAft>
                <a:spcPts val="1800"/>
              </a:spcAft>
              <a:defRPr sz="1300">
                <a:solidFill>
                  <a:srgbClr val="9FB2BB"/>
                </a:solidFill>
                <a:latin typeface="Calibri"/>
              </a:defRPr>
            </a:pPr>
            <a:r>
              <a:t>Shop identity, inventory, orders, and discovery unified in one place. Empowers small merchants with digital autonomy while offering buyers instant neighborhood access.</a:t>
            </a:r>
          </a:p>
          <a:p>
            <a:pPr>
              <a:defRPr sz="1050">
                <a:solidFill>
                  <a:srgbClr val="F5A623"/>
                </a:solidFill>
                <a:latin typeface="Calibri"/>
              </a:defRPr>
            </a:pPr>
            <a:r>
              <a:t>✓ 0% Aggregator Commissions   •   ✓ Sub-Hour Neighborhood Delivery   •   ✓ Live Stock Sync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91072" y="1783080"/>
            <a:ext cx="5166360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6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badge_sto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56832" y="2057400"/>
            <a:ext cx="777240" cy="77724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7635240" y="2011680"/>
            <a:ext cx="3566160" cy="1600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  <a:defRPr sz="1800" b="1">
                <a:solidFill>
                  <a:srgbClr val="11232B"/>
                </a:solidFill>
                <a:latin typeface="Calibri"/>
              </a:defRPr>
            </a:pPr>
            <a:r>
              <a:t>For sellers</a:t>
            </a:r>
          </a:p>
          <a:p>
            <a:pPr>
              <a:defRPr sz="1200">
                <a:solidFill>
                  <a:srgbClr val="4B5963"/>
                </a:solidFill>
                <a:latin typeface="Calibri"/>
              </a:defRPr>
            </a:pPr>
            <a:r>
              <a:t>Create a shop, list products via phone photo, track live stock and incoming orders with audio chimes, and watch sales grow with clear business insights.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91072" y="4069080"/>
            <a:ext cx="5166360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6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badge_car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56832" y="4343400"/>
            <a:ext cx="777240" cy="77724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7635240" y="4297680"/>
            <a:ext cx="3566160" cy="1600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  <a:defRPr sz="1800" b="1">
                <a:solidFill>
                  <a:srgbClr val="11232B"/>
                </a:solidFill>
                <a:latin typeface="Calibri"/>
              </a:defRPr>
            </a:pPr>
            <a:r>
              <a:t>For buyers</a:t>
            </a:r>
          </a:p>
          <a:p>
            <a:pPr>
              <a:defRPr sz="1200">
                <a:solidFill>
                  <a:srgbClr val="4B5963"/>
                </a:solidFill>
                <a:latin typeface="Calibri"/>
              </a:defRPr>
            </a:pPr>
            <a:r>
              <a:t>Find nearby shops on an interactive 5 km map, compare prices across local stores, order easily for delivery or quick pickup, and track every order in real time.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02920"/>
            <a:ext cx="10728655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800" b="1">
                <a:solidFill>
                  <a:srgbClr val="11232B"/>
                </a:solidFill>
                <a:latin typeface="Georgia"/>
              </a:defRPr>
            </a:pPr>
            <a:r>
              <a:t>Key features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15568"/>
            <a:ext cx="10728655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350">
                <a:solidFill>
                  <a:srgbClr val="4A5860"/>
                </a:solidFill>
                <a:latin typeface="Calibri"/>
              </a:defRPr>
            </a:pPr>
            <a:r>
              <a:t>Purpose-built dual portals engineered for merchant speed and buyer convenience.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00800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00">
                <a:solidFill>
                  <a:srgbClr val="8B9BA5"/>
                </a:solidFill>
                <a:latin typeface="Calibri"/>
              </a:defRPr>
            </a:pPr>
            <a:r>
              <a:t>LocalKaart  |  Team Hexapulse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00800"/>
            <a:ext cx="48737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defRPr sz="1000">
                <a:solidFill>
                  <a:srgbClr val="8B9BA5"/>
                </a:solidFill>
                <a:latin typeface="Calibri"/>
              </a:defRPr>
            </a:pPr>
            <a:r>
              <a:t>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783080"/>
            <a:ext cx="5166360" cy="4297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6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badge_sto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2148840"/>
            <a:ext cx="777240" cy="77724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2057400" y="2194560"/>
            <a:ext cx="370332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000" b="1">
                <a:solidFill>
                  <a:srgbClr val="11232B"/>
                </a:solidFill>
                <a:latin typeface="Calibri"/>
              </a:defRPr>
            </a:pPr>
            <a:r>
              <a:t>For sellers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3063240"/>
            <a:ext cx="4434840" cy="2834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100"/>
              </a:spcAft>
              <a:defRPr sz="1200">
                <a:solidFill>
                  <a:srgbClr val="4B5963"/>
                </a:solidFill>
                <a:latin typeface="Calibri"/>
              </a:defRPr>
            </a:pPr>
            <a:r>
              <a:t>•  Shop profile: custom logo, GPS coordinates, operating hours &amp; delivery radius.</a:t>
            </a:r>
          </a:p>
          <a:p>
            <a:pPr>
              <a:spcAft>
                <a:spcPts val="1100"/>
              </a:spcAft>
              <a:defRPr sz="1200">
                <a:solidFill>
                  <a:srgbClr val="4B5963"/>
                </a:solidFill>
                <a:latin typeface="Calibri"/>
              </a:defRPr>
            </a:pPr>
            <a:r>
              <a:t>•  Add and edit products with instant phone camera capture &amp; Cloudinary upload.</a:t>
            </a:r>
          </a:p>
          <a:p>
            <a:pPr>
              <a:spcAft>
                <a:spcPts val="1100"/>
              </a:spcAft>
              <a:defRPr sz="1200">
                <a:solidFill>
                  <a:srgbClr val="4B5963"/>
                </a:solidFill>
                <a:latin typeface="Calibri"/>
              </a:defRPr>
            </a:pPr>
            <a:r>
              <a:t>•  Live stock sync with quick-toggle counter and automated low-stock alerts (&lt; 3 units).</a:t>
            </a:r>
          </a:p>
          <a:p>
            <a:pPr>
              <a:spcAft>
                <a:spcPts val="1100"/>
              </a:spcAft>
              <a:defRPr sz="1200">
                <a:solidFill>
                  <a:srgbClr val="4B5963"/>
                </a:solidFill>
                <a:latin typeface="Calibri"/>
              </a:defRPr>
            </a:pPr>
            <a:r>
              <a:t>•  Real-time order lifecycle with audio chime &amp; toast alerts via WebSockets.</a:t>
            </a:r>
          </a:p>
          <a:p>
            <a:pPr>
              <a:spcAft>
                <a:spcPts val="1100"/>
              </a:spcAft>
              <a:defRPr sz="1200">
                <a:solidFill>
                  <a:srgbClr val="4B5963"/>
                </a:solidFill>
                <a:latin typeface="Calibri"/>
              </a:defRPr>
            </a:pPr>
            <a:r>
              <a:t>•  Sales analytics dashboard displaying today's revenue, top sellers, and peak trade hours.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91072" y="1783080"/>
            <a:ext cx="5166360" cy="4297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6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badge_car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56832" y="2148840"/>
            <a:ext cx="777240" cy="77724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7616952" y="2194560"/>
            <a:ext cx="370332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000" b="1">
                <a:solidFill>
                  <a:srgbClr val="11232B"/>
                </a:solidFill>
                <a:latin typeface="Calibri"/>
              </a:defRPr>
            </a:pPr>
            <a:r>
              <a:t>For buyers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56832" y="3063240"/>
            <a:ext cx="4434840" cy="2834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100"/>
              </a:spcAft>
              <a:defRPr sz="1200">
                <a:solidFill>
                  <a:srgbClr val="4B5963"/>
                </a:solidFill>
                <a:latin typeface="Calibri"/>
              </a:defRPr>
            </a:pPr>
            <a:r>
              <a:t>•  Search by category, price, and distance with GPS auto-detection or postal pincode.</a:t>
            </a:r>
          </a:p>
          <a:p>
            <a:pPr>
              <a:spcAft>
                <a:spcPts val="1100"/>
              </a:spcAft>
              <a:defRPr sz="1200">
                <a:solidFill>
                  <a:srgbClr val="4B5963"/>
                </a:solidFill>
                <a:latin typeface="Calibri"/>
              </a:defRPr>
            </a:pPr>
            <a:r>
              <a:t>•  Interactive Leaflet store map showing verified open neighborhood shops within 5 km.</a:t>
            </a:r>
          </a:p>
          <a:p>
            <a:pPr>
              <a:spcAft>
                <a:spcPts val="1100"/>
              </a:spcAft>
              <a:defRPr sz="1200">
                <a:solidFill>
                  <a:srgbClr val="4B5963"/>
                </a:solidFill>
                <a:latin typeface="Calibri"/>
              </a:defRPr>
            </a:pPr>
            <a:r>
              <a:t>•  Price comparison radar: compare exact same items across local shops side-by-side.</a:t>
            </a:r>
          </a:p>
          <a:p>
            <a:pPr>
              <a:spcAft>
                <a:spcPts val="1100"/>
              </a:spcAft>
              <a:defRPr sz="1200">
                <a:solidFill>
                  <a:srgbClr val="4B5963"/>
                </a:solidFill>
                <a:latin typeface="Calibri"/>
              </a:defRPr>
            </a:pPr>
            <a:r>
              <a:t>•  Cart and simple checkout: Cash on Delivery (COD) or UPI with doorstep vs pickup options.</a:t>
            </a:r>
          </a:p>
          <a:p>
            <a:pPr>
              <a:spcAft>
                <a:spcPts val="1100"/>
              </a:spcAft>
              <a:defRPr sz="1200">
                <a:solidFill>
                  <a:srgbClr val="4B5963"/>
                </a:solidFill>
                <a:latin typeface="Calibri"/>
              </a:defRPr>
            </a:pPr>
            <a:r>
              <a:t>•  Live order tracking from Placed to Delivered with transparent merchant reviews &amp; ratings.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02920"/>
            <a:ext cx="10728655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800" b="1">
                <a:solidFill>
                  <a:srgbClr val="11232B"/>
                </a:solidFill>
                <a:latin typeface="Georgia"/>
              </a:defRPr>
            </a:pPr>
            <a:r>
              <a:t>What makes LocalKaart different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15568"/>
            <a:ext cx="10728655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350">
                <a:solidFill>
                  <a:srgbClr val="4A5860"/>
                </a:solidFill>
                <a:latin typeface="Calibri"/>
              </a:defRPr>
            </a:pPr>
            <a:r>
              <a:t>Hyper-local differentiators that give neighborhood merchants the winning edge.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00800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00">
                <a:solidFill>
                  <a:srgbClr val="8B9BA5"/>
                </a:solidFill>
                <a:latin typeface="Calibri"/>
              </a:defRPr>
            </a:pPr>
            <a:r>
              <a:t>LocalKaart  |  Team Hexapulse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00800"/>
            <a:ext cx="48737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defRPr sz="1000">
                <a:solidFill>
                  <a:srgbClr val="8B9BA5"/>
                </a:solidFill>
                <a:latin typeface="Calibri"/>
              </a:defRPr>
            </a:pPr>
            <a:r>
              <a:t>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783080"/>
            <a:ext cx="3337560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6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badge_pi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1560" y="2103120"/>
            <a:ext cx="685800" cy="6858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874520" y="2075688"/>
            <a:ext cx="1965960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600" b="1">
                <a:solidFill>
                  <a:srgbClr val="11232B"/>
                </a:solidFill>
                <a:latin typeface="Calibri"/>
              </a:defRPr>
            </a:pPr>
            <a:r>
              <a:t>Near-me discovery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" y="2880360"/>
            <a:ext cx="269748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50">
                <a:solidFill>
                  <a:srgbClr val="4B5963"/>
                </a:solidFill>
                <a:latin typeface="Calibri"/>
              </a:defRPr>
            </a:pPr>
            <a:r>
              <a:t>Shops sorted by distance, with an interactive map view and 5 km radius filtering.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25696" y="1783080"/>
            <a:ext cx="3337560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6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badge_scal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45736" y="2103120"/>
            <a:ext cx="685800" cy="68580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5568696" y="2075688"/>
            <a:ext cx="1965960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600" b="1">
                <a:solidFill>
                  <a:srgbClr val="11232B"/>
                </a:solidFill>
                <a:latin typeface="Calibri"/>
              </a:defRPr>
            </a:pPr>
            <a:r>
              <a:t>Price comparison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45736" y="2880360"/>
            <a:ext cx="269748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50">
                <a:solidFill>
                  <a:srgbClr val="4B5963"/>
                </a:solidFill>
                <a:latin typeface="Calibri"/>
              </a:defRPr>
            </a:pPr>
            <a:r>
              <a:t>Same product, different local shops, side by side. Pure price transparency.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19872" y="1783080"/>
            <a:ext cx="3337560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6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" name="Picture 15" descr="badge_lightbulb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39912" y="2103120"/>
            <a:ext cx="685800" cy="685800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9262872" y="2075688"/>
            <a:ext cx="1965960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600" b="1">
                <a:solidFill>
                  <a:srgbClr val="11232B"/>
                </a:solidFill>
                <a:latin typeface="Calibri"/>
              </a:defRPr>
            </a:pPr>
            <a:r>
              <a:t>Smart picks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39912" y="2880360"/>
            <a:ext cx="269748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50">
                <a:solidFill>
                  <a:srgbClr val="4B5963"/>
                </a:solidFill>
                <a:latin typeface="Calibri"/>
              </a:defRPr>
            </a:pPr>
            <a:r>
              <a:t>Popular near you, neighborhood best-sellers, and 'customers also bought' pairings.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31520" y="4069080"/>
            <a:ext cx="3337560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6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badge_chart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51560" y="4389120"/>
            <a:ext cx="685800" cy="685800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1874520" y="4361688"/>
            <a:ext cx="1965960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600" b="1">
                <a:solidFill>
                  <a:srgbClr val="11232B"/>
                </a:solidFill>
                <a:latin typeface="Calibri"/>
              </a:defRPr>
            </a:pPr>
            <a:r>
              <a:t>Seller insights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51560" y="5166360"/>
            <a:ext cx="269748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50">
                <a:solidFill>
                  <a:srgbClr val="4B5963"/>
                </a:solidFill>
                <a:latin typeface="Calibri"/>
              </a:defRPr>
            </a:pPr>
            <a:r>
              <a:t>Best sellers, peak shopping hours, demand patterns, and low-inventory warnings.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425696" y="4069080"/>
            <a:ext cx="3337560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6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4" name="Picture 23" descr="badge_bell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45736" y="4389120"/>
            <a:ext cx="685800" cy="685800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5568696" y="4361688"/>
            <a:ext cx="1965960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600" b="1">
                <a:solidFill>
                  <a:srgbClr val="11232B"/>
                </a:solidFill>
                <a:latin typeface="Calibri"/>
              </a:defRPr>
            </a:pPr>
            <a:r>
              <a:t>WhatsApp &amp; alerts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745736" y="5166360"/>
            <a:ext cx="269748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50">
                <a:solidFill>
                  <a:srgbClr val="4B5963"/>
                </a:solidFill>
                <a:latin typeface="Calibri"/>
              </a:defRPr>
            </a:pPr>
            <a:r>
              <a:t>Direct automated order notifications pinged to merchant WhatsApp instantly.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119872" y="4069080"/>
            <a:ext cx="3337560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6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8" name="Picture 27" descr="badge_mobil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439912" y="4389120"/>
            <a:ext cx="685800" cy="685800"/>
          </a:xfrm>
          <a:prstGeom prst="rect">
            <a:avLst/>
          </a:prstGeom>
        </p:spPr>
      </p:pic>
      <p:sp>
        <p:nvSpPr>
          <p:cNvPr id="29" name="TextBox 28"/>
          <p:cNvSpPr txBox="1"/>
          <p:nvPr/>
        </p:nvSpPr>
        <p:spPr>
          <a:xfrm>
            <a:off x="9262872" y="4361688"/>
            <a:ext cx="1965960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600" b="1">
                <a:solidFill>
                  <a:srgbClr val="11232B"/>
                </a:solidFill>
                <a:latin typeface="Calibri"/>
              </a:defRPr>
            </a:pPr>
            <a:r>
              <a:t>Mobile-friendly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439912" y="5166360"/>
            <a:ext cx="269748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50">
                <a:solidFill>
                  <a:srgbClr val="4B5963"/>
                </a:solidFill>
                <a:latin typeface="Calibri"/>
              </a:defRPr>
            </a:pPr>
            <a:r>
              <a:t>Phone-first seller view with camera photo upload and zero-desktop complexity.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02920"/>
            <a:ext cx="10728655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800" b="1">
                <a:solidFill>
                  <a:srgbClr val="11232B"/>
                </a:solidFill>
                <a:latin typeface="Georgia"/>
              </a:defRPr>
            </a:pPr>
            <a:r>
              <a:t>How it works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15568"/>
            <a:ext cx="10728655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350">
                <a:solidFill>
                  <a:srgbClr val="4A5860"/>
                </a:solidFill>
                <a:latin typeface="Calibri"/>
              </a:defRPr>
            </a:pPr>
            <a:r>
              <a:t>An automated 5-step operational flow backed by a real-time order state machine.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00800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00">
                <a:solidFill>
                  <a:srgbClr val="8B9BA5"/>
                </a:solidFill>
                <a:latin typeface="Calibri"/>
              </a:defRPr>
            </a:pPr>
            <a:r>
              <a:t>LocalKaart  |  Team Hexapulse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00800"/>
            <a:ext cx="48737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defRPr sz="1000">
                <a:solidFill>
                  <a:srgbClr val="8B9BA5"/>
                </a:solidFill>
                <a:latin typeface="Calibri"/>
              </a:defRPr>
            </a:pPr>
            <a:r>
              <a:t>7</a:t>
            </a:r>
          </a:p>
        </p:txBody>
      </p:sp>
      <p:pic>
        <p:nvPicPr>
          <p:cNvPr id="7" name="Picture 6" descr="badge_user_ad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07008" y="1783080"/>
            <a:ext cx="822960" cy="82296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31520" y="2743200"/>
            <a:ext cx="17830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1600" b="1">
                <a:solidFill>
                  <a:srgbClr val="11232B"/>
                </a:solidFill>
                <a:latin typeface="Calibri"/>
              </a:defRPr>
            </a:pPr>
            <a:r>
              <a:t>Register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3108960"/>
            <a:ext cx="178308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1150">
                <a:solidFill>
                  <a:srgbClr val="4B5963"/>
                </a:solidFill>
                <a:latin typeface="Calibri"/>
              </a:defRPr>
            </a:pPr>
            <a:r>
              <a:t>Seller opens a shop &amp; sets location radius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624328" y="2057400"/>
            <a:ext cx="237744" cy="3657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defRPr sz="2200" b="1">
                <a:solidFill>
                  <a:srgbClr val="1F525E"/>
                </a:solidFill>
                <a:latin typeface="Calibri"/>
              </a:defRPr>
            </a:pPr>
            <a:r>
              <a:t>→</a:t>
            </a:r>
          </a:p>
        </p:txBody>
      </p:sp>
      <p:pic>
        <p:nvPicPr>
          <p:cNvPr id="11" name="Picture 10" descr="badge_box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47288" y="1783080"/>
            <a:ext cx="822960" cy="82296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2971800" y="2743200"/>
            <a:ext cx="17830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1600" b="1">
                <a:solidFill>
                  <a:srgbClr val="11232B"/>
                </a:solidFill>
                <a:latin typeface="Calibri"/>
              </a:defRPr>
            </a:pPr>
            <a:r>
              <a:t>List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971800" y="3108960"/>
            <a:ext cx="178308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1150">
                <a:solidFill>
                  <a:srgbClr val="4B5963"/>
                </a:solidFill>
                <a:latin typeface="Calibri"/>
              </a:defRPr>
            </a:pPr>
            <a:r>
              <a:t>Products and stock added via phone photo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64608" y="2057400"/>
            <a:ext cx="237744" cy="3657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defRPr sz="2200" b="1">
                <a:solidFill>
                  <a:srgbClr val="1F525E"/>
                </a:solidFill>
                <a:latin typeface="Calibri"/>
              </a:defRPr>
            </a:pPr>
            <a:r>
              <a:t>→</a:t>
            </a:r>
          </a:p>
        </p:txBody>
      </p:sp>
      <p:pic>
        <p:nvPicPr>
          <p:cNvPr id="15" name="Picture 14" descr="badge_car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87568" y="1783080"/>
            <a:ext cx="822960" cy="82296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5212080" y="2743200"/>
            <a:ext cx="17830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1600" b="1">
                <a:solidFill>
                  <a:srgbClr val="11232B"/>
                </a:solidFill>
                <a:latin typeface="Calibri"/>
              </a:defRPr>
            </a:pPr>
            <a:r>
              <a:t>Order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212080" y="3108960"/>
            <a:ext cx="178308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1150">
                <a:solidFill>
                  <a:srgbClr val="4B5963"/>
                </a:solidFill>
                <a:latin typeface="Calibri"/>
              </a:defRPr>
            </a:pPr>
            <a:r>
              <a:t>Buyer discovers nearby &amp; places order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104888" y="2057400"/>
            <a:ext cx="237744" cy="3657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defRPr sz="2200" b="1">
                <a:solidFill>
                  <a:srgbClr val="1F525E"/>
                </a:solidFill>
                <a:latin typeface="Calibri"/>
              </a:defRPr>
            </a:pPr>
            <a:r>
              <a:t>→</a:t>
            </a:r>
          </a:p>
        </p:txBody>
      </p:sp>
      <p:pic>
        <p:nvPicPr>
          <p:cNvPr id="19" name="Picture 18" descr="badge_sync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27848" y="1783080"/>
            <a:ext cx="822960" cy="822960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7452360" y="2743200"/>
            <a:ext cx="17830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1600" b="1">
                <a:solidFill>
                  <a:srgbClr val="11232B"/>
                </a:solidFill>
                <a:latin typeface="Calibri"/>
              </a:defRPr>
            </a:pPr>
            <a:r>
              <a:t>Update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452360" y="3108960"/>
            <a:ext cx="178308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1150">
                <a:solidFill>
                  <a:srgbClr val="4B5963"/>
                </a:solidFill>
                <a:latin typeface="Calibri"/>
              </a:defRPr>
            </a:pPr>
            <a:r>
              <a:t>Stock reduces automatically with audio chime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345168" y="2057400"/>
            <a:ext cx="237744" cy="3657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defRPr sz="2200" b="1">
                <a:solidFill>
                  <a:srgbClr val="1F525E"/>
                </a:solidFill>
                <a:latin typeface="Calibri"/>
              </a:defRPr>
            </a:pPr>
            <a:r>
              <a:t>→</a:t>
            </a:r>
          </a:p>
        </p:txBody>
      </p:sp>
      <p:pic>
        <p:nvPicPr>
          <p:cNvPr id="23" name="Picture 22" descr="badge_track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168128" y="1783080"/>
            <a:ext cx="822960" cy="822960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9692640" y="2743200"/>
            <a:ext cx="17830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1600" b="1">
                <a:solidFill>
                  <a:srgbClr val="11232B"/>
                </a:solidFill>
                <a:latin typeface="Calibri"/>
              </a:defRPr>
            </a:pPr>
            <a:r>
              <a:t>Track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692640" y="3108960"/>
            <a:ext cx="178308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1150">
                <a:solidFill>
                  <a:srgbClr val="4B5963"/>
                </a:solidFill>
                <a:latin typeface="Calibri"/>
              </a:defRPr>
            </a:pPr>
            <a:r>
              <a:t>Seller sees sales &amp; buyer tracks delivery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31520" y="4434840"/>
            <a:ext cx="10728655" cy="1554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6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05840" y="5029200"/>
            <a:ext cx="1645920" cy="3657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700" b="1">
                <a:solidFill>
                  <a:srgbClr val="11232B"/>
                </a:solidFill>
                <a:latin typeface="Calibri"/>
              </a:defRPr>
            </a:pPr>
            <a:r>
              <a:t>Order status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2834640" y="4818888"/>
            <a:ext cx="1828800" cy="777240"/>
          </a:xfrm>
          <a:prstGeom prst="roundRect">
            <a:avLst/>
          </a:prstGeom>
          <a:solidFill>
            <a:srgbClr val="1931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834640" y="4928616"/>
            <a:ext cx="18288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Placed</a:t>
            </a:r>
          </a:p>
          <a:p>
            <a:pPr algn="ctr">
              <a:defRPr sz="950">
                <a:solidFill>
                  <a:srgbClr val="F5A623"/>
                </a:solidFill>
                <a:latin typeface="Calibri"/>
              </a:defRPr>
            </a:pPr>
            <a:r>
              <a:t>Atomic stock reserve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700016" y="5001768"/>
            <a:ext cx="164592" cy="3657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defRPr sz="1600" b="1">
                <a:solidFill>
                  <a:srgbClr val="1F525E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892040" y="4818888"/>
            <a:ext cx="1828800" cy="777240"/>
          </a:xfrm>
          <a:prstGeom prst="roundRect">
            <a:avLst/>
          </a:prstGeom>
          <a:solidFill>
            <a:srgbClr val="1931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892040" y="4928616"/>
            <a:ext cx="18288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Confirmed</a:t>
            </a:r>
          </a:p>
          <a:p>
            <a:pPr algn="ctr">
              <a:defRPr sz="950">
                <a:solidFill>
                  <a:srgbClr val="F5A623"/>
                </a:solidFill>
                <a:latin typeface="Calibri"/>
              </a:defRPr>
            </a:pPr>
            <a:r>
              <a:t>Seller accepts &amp; packs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757416" y="5001768"/>
            <a:ext cx="164592" cy="3657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defRPr sz="1600" b="1">
                <a:solidFill>
                  <a:srgbClr val="1F525E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949440" y="4818888"/>
            <a:ext cx="1828800" cy="777240"/>
          </a:xfrm>
          <a:prstGeom prst="roundRect">
            <a:avLst/>
          </a:prstGeom>
          <a:solidFill>
            <a:srgbClr val="1931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949440" y="4928616"/>
            <a:ext cx="18288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Packed</a:t>
            </a:r>
          </a:p>
          <a:p>
            <a:pPr algn="ctr">
              <a:defRPr sz="950">
                <a:solidFill>
                  <a:srgbClr val="F5A623"/>
                </a:solidFill>
                <a:latin typeface="Calibri"/>
              </a:defRPr>
            </a:pPr>
            <a:r>
              <a:t>Ready for pickup / trip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814816" y="5001768"/>
            <a:ext cx="164592" cy="3657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defRPr sz="1600" b="1">
                <a:solidFill>
                  <a:srgbClr val="1F525E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9006840" y="4818888"/>
            <a:ext cx="1828800" cy="777240"/>
          </a:xfrm>
          <a:prstGeom prst="roundRect">
            <a:avLst/>
          </a:prstGeom>
          <a:solidFill>
            <a:srgbClr val="1931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006840" y="4928616"/>
            <a:ext cx="18288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Delivered</a:t>
            </a:r>
          </a:p>
          <a:p>
            <a:pPr algn="ctr">
              <a:defRPr sz="950">
                <a:solidFill>
                  <a:srgbClr val="F5A623"/>
                </a:solidFill>
                <a:latin typeface="Calibri"/>
              </a:defRPr>
            </a:pPr>
            <a:r>
              <a:t>Completed &amp; reviewed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02920"/>
            <a:ext cx="10728655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800" b="1">
                <a:solidFill>
                  <a:srgbClr val="11232B"/>
                </a:solidFill>
                <a:latin typeface="Georgia"/>
              </a:defRPr>
            </a:pPr>
            <a:r>
              <a:t>Architecture and tech stack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15568"/>
            <a:ext cx="10728655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350">
                <a:solidFill>
                  <a:srgbClr val="4A5860"/>
                </a:solidFill>
                <a:latin typeface="Calibri"/>
              </a:defRPr>
            </a:pPr>
            <a:r>
              <a:t>Modern, decoupled full-stack architecture built for speed, real-time sync, and spatial queries.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00800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00">
                <a:solidFill>
                  <a:srgbClr val="8B9BA5"/>
                </a:solidFill>
                <a:latin typeface="Calibri"/>
              </a:defRPr>
            </a:pPr>
            <a:r>
              <a:t>LocalKaart  |  Team Hexapulse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00800"/>
            <a:ext cx="48737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defRPr sz="1000">
                <a:solidFill>
                  <a:srgbClr val="8B9BA5"/>
                </a:solidFill>
                <a:latin typeface="Calibri"/>
              </a:defRPr>
            </a:pPr>
            <a:r>
              <a:t>8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783080"/>
            <a:ext cx="3337560" cy="2011680"/>
          </a:xfrm>
          <a:prstGeom prst="roundRect">
            <a:avLst/>
          </a:prstGeom>
          <a:solidFill>
            <a:srgbClr val="1931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011680"/>
            <a:ext cx="2606040" cy="1554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800" b="1">
                <a:solidFill>
                  <a:srgbClr val="F5A623"/>
                </a:solidFill>
                <a:latin typeface="Calibri"/>
              </a:defRPr>
            </a:pPr>
            <a:r>
              <a:t>Frontend</a:t>
            </a:r>
          </a:p>
          <a:p>
            <a:pPr>
              <a:defRPr sz="1200">
                <a:solidFill>
                  <a:srgbClr val="FFFFFF"/>
                </a:solidFill>
                <a:latin typeface="Calibri"/>
              </a:defRPr>
            </a:pPr>
            <a:r>
              <a:t>React + Tailwind CSS. Separate buyer and seller interfaces with Leaflet map.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25696" y="1783080"/>
            <a:ext cx="3337560" cy="2011680"/>
          </a:xfrm>
          <a:prstGeom prst="roundRect">
            <a:avLst/>
          </a:prstGeom>
          <a:solidFill>
            <a:srgbClr val="1931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791456" y="2011680"/>
            <a:ext cx="2606040" cy="1554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800" b="1">
                <a:solidFill>
                  <a:srgbClr val="F5A623"/>
                </a:solidFill>
                <a:latin typeface="Calibri"/>
              </a:defRPr>
            </a:pPr>
            <a:r>
              <a:t>Backend</a:t>
            </a:r>
          </a:p>
          <a:p>
            <a:pPr>
              <a:defRPr sz="1200">
                <a:solidFill>
                  <a:srgbClr val="FFFFFF"/>
                </a:solidFill>
                <a:latin typeface="Calibri"/>
              </a:defRPr>
            </a:pPr>
            <a:r>
              <a:t>Node.js + Express REST API with JWT login, role guards, and Socket.io.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119872" y="1783080"/>
            <a:ext cx="3337560" cy="2011680"/>
          </a:xfrm>
          <a:prstGeom prst="roundRect">
            <a:avLst/>
          </a:prstGeom>
          <a:solidFill>
            <a:srgbClr val="1931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485632" y="2011680"/>
            <a:ext cx="2606040" cy="1554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800" b="1">
                <a:solidFill>
                  <a:srgbClr val="F5A623"/>
                </a:solidFill>
                <a:latin typeface="Calibri"/>
              </a:defRPr>
            </a:pPr>
            <a:r>
              <a:t>Database</a:t>
            </a:r>
          </a:p>
          <a:p>
            <a:pPr>
              <a:defRPr sz="1200">
                <a:solidFill>
                  <a:srgbClr val="FFFFFF"/>
                </a:solidFill>
                <a:latin typeface="Calibri"/>
              </a:defRPr>
            </a:pPr>
            <a:r>
              <a:t>PostgreSQL (PostGIS) / MongoDB for users, shops, products, orders, and reviews.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14800" y="2606040"/>
            <a:ext cx="256032" cy="3657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defRPr sz="2200" b="1">
                <a:solidFill>
                  <a:srgbClr val="1F525E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808975" y="2606040"/>
            <a:ext cx="256032" cy="3657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defRPr sz="2200" b="1">
                <a:solidFill>
                  <a:srgbClr val="1F525E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3977639"/>
            <a:ext cx="10728655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500" b="1">
                <a:solidFill>
                  <a:srgbClr val="11232B"/>
                </a:solidFill>
                <a:latin typeface="Calibri"/>
              </a:defRPr>
            </a:pPr>
            <a:r>
              <a:t>Supporting services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4389120"/>
            <a:ext cx="3337560" cy="1645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6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97280" y="4617720"/>
            <a:ext cx="2606040" cy="1188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  <a:defRPr sz="1600" b="1">
                <a:solidFill>
                  <a:srgbClr val="11232B"/>
                </a:solidFill>
                <a:latin typeface="Calibri"/>
              </a:defRPr>
            </a:pPr>
            <a:r>
              <a:t>Cloudinary</a:t>
            </a:r>
          </a:p>
          <a:p>
            <a:pPr>
              <a:defRPr sz="1200">
                <a:solidFill>
                  <a:srgbClr val="4B5963"/>
                </a:solidFill>
                <a:latin typeface="Calibri"/>
              </a:defRPr>
            </a:pPr>
            <a:r>
              <a:t>Product image storage &amp; CDN optimization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425696" y="4389120"/>
            <a:ext cx="3337560" cy="1645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6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791456" y="4617720"/>
            <a:ext cx="2606040" cy="1188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  <a:defRPr sz="1600" b="1">
                <a:solidFill>
                  <a:srgbClr val="11232B"/>
                </a:solidFill>
                <a:latin typeface="Calibri"/>
              </a:defRPr>
            </a:pPr>
            <a:r>
              <a:t>Leaflet + OpenStreetMap</a:t>
            </a:r>
          </a:p>
          <a:p>
            <a:pPr>
              <a:defRPr sz="1200">
                <a:solidFill>
                  <a:srgbClr val="4B5963"/>
                </a:solidFill>
                <a:latin typeface="Calibri"/>
              </a:defRPr>
            </a:pPr>
            <a:r>
              <a:t>Nearby shop map view &amp; 5 km radius filtering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119872" y="4389120"/>
            <a:ext cx="3337560" cy="1645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6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485632" y="4617720"/>
            <a:ext cx="2606040" cy="1188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  <a:defRPr sz="1600" b="1">
                <a:solidFill>
                  <a:srgbClr val="11232B"/>
                </a:solidFill>
                <a:latin typeface="Calibri"/>
              </a:defRPr>
            </a:pPr>
            <a:r>
              <a:t>Chart.js &amp; WebSockets</a:t>
            </a:r>
          </a:p>
          <a:p>
            <a:pPr>
              <a:defRPr sz="1200">
                <a:solidFill>
                  <a:srgbClr val="4B5963"/>
                </a:solidFill>
                <a:latin typeface="Calibri"/>
              </a:defRPr>
            </a:pPr>
            <a:r>
              <a:t>Seller sales dashboards &amp; live order chimes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02920"/>
            <a:ext cx="10728655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800" b="1">
                <a:solidFill>
                  <a:srgbClr val="11232B"/>
                </a:solidFill>
                <a:latin typeface="Georgia"/>
              </a:defRPr>
            </a:pPr>
            <a:r>
              <a:t>Core data model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15568"/>
            <a:ext cx="10728655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350">
                <a:solidFill>
                  <a:srgbClr val="4A5860"/>
                </a:solidFill>
                <a:latin typeface="Calibri"/>
              </a:defRPr>
            </a:pPr>
            <a:r>
              <a:t>Normalized schema designed for relational integrity, spatial indexing, and order tracing.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00800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00">
                <a:solidFill>
                  <a:srgbClr val="8B9BA5"/>
                </a:solidFill>
                <a:latin typeface="Calibri"/>
              </a:defRPr>
            </a:pPr>
            <a:r>
              <a:t>LocalKaart  |  Team Hexapulse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00800"/>
            <a:ext cx="48737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defRPr sz="1000">
                <a:solidFill>
                  <a:srgbClr val="8B9BA5"/>
                </a:solidFill>
                <a:latin typeface="Calibri"/>
              </a:defRPr>
            </a:pPr>
            <a:r>
              <a:t>9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783080"/>
            <a:ext cx="3337560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6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badge_user_ad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1560" y="2103120"/>
            <a:ext cx="685800" cy="6858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874520" y="2103120"/>
            <a:ext cx="196596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700" b="1">
                <a:solidFill>
                  <a:srgbClr val="11232B"/>
                </a:solidFill>
                <a:latin typeface="Calibri"/>
              </a:defRPr>
            </a:pPr>
            <a:r>
              <a:t>Users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" y="2880360"/>
            <a:ext cx="269748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200">
                <a:solidFill>
                  <a:srgbClr val="4B5963"/>
                </a:solidFill>
                <a:latin typeface="Calibri"/>
              </a:defRPr>
            </a:pPr>
            <a:r>
              <a:t>name, email, role (buyer or seller), location, authHash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25696" y="1783080"/>
            <a:ext cx="3337560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6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badge_stor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45736" y="2103120"/>
            <a:ext cx="685800" cy="68580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5568696" y="2103120"/>
            <a:ext cx="196596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700" b="1">
                <a:solidFill>
                  <a:srgbClr val="11232B"/>
                </a:solidFill>
                <a:latin typeface="Calibri"/>
              </a:defRPr>
            </a:pPr>
            <a:r>
              <a:t>Shops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45736" y="2880360"/>
            <a:ext cx="269748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200">
                <a:solidFill>
                  <a:srgbClr val="4B5963"/>
                </a:solidFill>
                <a:latin typeface="Calibri"/>
              </a:defRPr>
            </a:pPr>
            <a:r>
              <a:t>owner, name, category, location (lat/lng point), timings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19872" y="1783080"/>
            <a:ext cx="3337560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6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" name="Picture 15" descr="badge_box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39912" y="2103120"/>
            <a:ext cx="685800" cy="685800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9262872" y="2103120"/>
            <a:ext cx="196596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700" b="1">
                <a:solidFill>
                  <a:srgbClr val="11232B"/>
                </a:solidFill>
                <a:latin typeface="Calibri"/>
              </a:defRPr>
            </a:pPr>
            <a:r>
              <a:t>Products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39912" y="2880360"/>
            <a:ext cx="269748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200">
                <a:solidFill>
                  <a:srgbClr val="4B5963"/>
                </a:solidFill>
                <a:latin typeface="Calibri"/>
              </a:defRPr>
            </a:pPr>
            <a:r>
              <a:t>shop, name, price, stock count, SKU, images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31520" y="4069080"/>
            <a:ext cx="3337560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6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badge_cart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51560" y="4389120"/>
            <a:ext cx="685800" cy="685800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1874520" y="4389120"/>
            <a:ext cx="196596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700" b="1">
                <a:solidFill>
                  <a:srgbClr val="11232B"/>
                </a:solidFill>
                <a:latin typeface="Calibri"/>
              </a:defRPr>
            </a:pPr>
            <a:r>
              <a:t>Orders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51560" y="5166360"/>
            <a:ext cx="269748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200">
                <a:solidFill>
                  <a:srgbClr val="4B5963"/>
                </a:solidFill>
                <a:latin typeface="Calibri"/>
              </a:defRPr>
            </a:pPr>
            <a:r>
              <a:t>buyer, items, total, status, timestamps, paymentMode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425696" y="4069080"/>
            <a:ext cx="3337560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6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4" name="Picture 23" descr="badge_star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45736" y="4389120"/>
            <a:ext cx="685800" cy="685800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5568696" y="4389120"/>
            <a:ext cx="196596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700" b="1">
                <a:solidFill>
                  <a:srgbClr val="11232B"/>
                </a:solidFill>
                <a:latin typeface="Calibri"/>
              </a:defRPr>
            </a:pPr>
            <a:r>
              <a:t>Reviews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745736" y="5166360"/>
            <a:ext cx="269748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200">
                <a:solidFill>
                  <a:srgbClr val="4B5963"/>
                </a:solidFill>
                <a:latin typeface="Calibri"/>
              </a:defRPr>
            </a:pPr>
            <a:r>
              <a:t>buyer, shop or product, rating (1–5), comment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119872" y="4069080"/>
            <a:ext cx="3337560" cy="2011680"/>
          </a:xfrm>
          <a:prstGeom prst="roundRect">
            <a:avLst/>
          </a:prstGeom>
          <a:solidFill>
            <a:srgbClr val="1931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439912" y="4389120"/>
            <a:ext cx="269748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700" b="1">
                <a:solidFill>
                  <a:srgbClr val="F5A623"/>
                </a:solidFill>
                <a:latin typeface="Calibri"/>
              </a:defRPr>
            </a:pPr>
            <a:r>
              <a:t>How they connect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439912" y="5166360"/>
            <a:ext cx="269748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200">
                <a:solidFill>
                  <a:srgbClr val="FFFFFF"/>
                </a:solidFill>
                <a:latin typeface="Calibri"/>
              </a:defRPr>
            </a:pPr>
            <a:r>
              <a:t>A seller owns a shop, a shop lists products, and a buyer places orders and leaves reviews.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02920"/>
            <a:ext cx="10728655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800" b="1">
                <a:solidFill>
                  <a:srgbClr val="11232B"/>
                </a:solidFill>
                <a:latin typeface="Georgia"/>
              </a:defRPr>
            </a:pPr>
            <a:r>
              <a:t>Step-by-step implementation plan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15568"/>
            <a:ext cx="10728655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350">
                <a:solidFill>
                  <a:srgbClr val="4A5860"/>
                </a:solidFill>
                <a:latin typeface="Calibri"/>
              </a:defRPr>
            </a:pPr>
            <a:r>
              <a:t>Structured 4-stage engineering blueprint ensuring rapid delivery from DB to live demo.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00800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00">
                <a:solidFill>
                  <a:srgbClr val="8B9BA5"/>
                </a:solidFill>
                <a:latin typeface="Calibri"/>
              </a:defRPr>
            </a:pPr>
            <a:r>
              <a:t>LocalKaart  |  Team Hexapulse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00800"/>
            <a:ext cx="48737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defRPr sz="1000">
                <a:solidFill>
                  <a:srgbClr val="8B9BA5"/>
                </a:solidFill>
                <a:latin typeface="Calibri"/>
              </a:defRPr>
            </a:pPr>
            <a:r>
              <a:t>10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783080"/>
            <a:ext cx="2468880" cy="4297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6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005840" y="2103120"/>
            <a:ext cx="1005840" cy="292608"/>
          </a:xfrm>
          <a:prstGeom prst="round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2121408"/>
            <a:ext cx="10058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1">
                <a:solidFill>
                  <a:srgbClr val="19313B"/>
                </a:solidFill>
                <a:latin typeface="Calibri"/>
              </a:defRPr>
            </a:pPr>
            <a:r>
              <a:t>PHASE 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2560320"/>
            <a:ext cx="192024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600" b="1">
                <a:solidFill>
                  <a:srgbClr val="11232B"/>
                </a:solidFill>
                <a:latin typeface="Calibri"/>
              </a:defRPr>
            </a:pPr>
            <a:r>
              <a:t>Architecture &amp; DB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3108960"/>
            <a:ext cx="1920240" cy="2834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100">
                <a:solidFill>
                  <a:srgbClr val="4B5963"/>
                </a:solidFill>
                <a:latin typeface="Calibri"/>
              </a:defRPr>
            </a:pPr>
            <a:r>
              <a:t>•  Monorepo setup: Next.js frontend + Node.js/Express server.</a:t>
            </a:r>
          </a:p>
          <a:p>
            <a:pPr>
              <a:spcAft>
                <a:spcPts val="800"/>
              </a:spcAft>
              <a:defRPr sz="1100">
                <a:solidFill>
                  <a:srgbClr val="4B5963"/>
                </a:solidFill>
                <a:latin typeface="Calibri"/>
              </a:defRPr>
            </a:pPr>
            <a:r>
              <a:t>•  PostgreSQL + PostGIS (ST_DWithin) spatial schema provisioning.</a:t>
            </a:r>
          </a:p>
          <a:p>
            <a:pPr>
              <a:spcAft>
                <a:spcPts val="800"/>
              </a:spcAft>
              <a:defRPr sz="1100">
                <a:solidFill>
                  <a:srgbClr val="4B5963"/>
                </a:solidFill>
                <a:latin typeface="Calibri"/>
              </a:defRPr>
            </a:pPr>
            <a:r>
              <a:t>•  Core models: User, Store, Product, and Order tables.</a:t>
            </a:r>
          </a:p>
          <a:p>
            <a:pPr>
              <a:spcAft>
                <a:spcPts val="800"/>
              </a:spcAft>
              <a:defRPr sz="1100">
                <a:solidFill>
                  <a:srgbClr val="4B5963"/>
                </a:solidFill>
                <a:latin typeface="Calibri"/>
              </a:defRPr>
            </a:pPr>
            <a:r>
              <a:t>•  JWT auth with role guards (authMiddleware &amp; sellerOnly).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483864" y="1783080"/>
            <a:ext cx="2468880" cy="4297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6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3758184" y="2103120"/>
            <a:ext cx="1005840" cy="292608"/>
          </a:xfrm>
          <a:prstGeom prst="round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758184" y="2121408"/>
            <a:ext cx="10058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1">
                <a:solidFill>
                  <a:srgbClr val="19313B"/>
                </a:solidFill>
                <a:latin typeface="Calibri"/>
              </a:defRPr>
            </a:pPr>
            <a:r>
              <a:t>PHASE 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758184" y="2560320"/>
            <a:ext cx="192024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600" b="1">
                <a:solidFill>
                  <a:srgbClr val="11232B"/>
                </a:solidFill>
                <a:latin typeface="Calibri"/>
              </a:defRPr>
            </a:pPr>
            <a:r>
              <a:t>Backend REST APIs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758184" y="3108960"/>
            <a:ext cx="1920240" cy="2834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100">
                <a:solidFill>
                  <a:srgbClr val="4B5963"/>
                </a:solidFill>
                <a:latin typeface="Calibri"/>
              </a:defRPr>
            </a:pPr>
            <a:r>
              <a:t>•  Merchant inventory API with Cloudinary image upload.</a:t>
            </a:r>
          </a:p>
          <a:p>
            <a:pPr>
              <a:spcAft>
                <a:spcPts val="800"/>
              </a:spcAft>
              <a:defRPr sz="1100">
                <a:solidFill>
                  <a:srgbClr val="4B5963"/>
                </a:solidFill>
                <a:latin typeface="Calibri"/>
              </a:defRPr>
            </a:pPr>
            <a:r>
              <a:t>•  Instant quick-toggle stock counter (/api/products/:id/stock).</a:t>
            </a:r>
          </a:p>
          <a:p>
            <a:pPr>
              <a:spcAft>
                <a:spcPts val="800"/>
              </a:spcAft>
              <a:defRPr sz="1100">
                <a:solidFill>
                  <a:srgbClr val="4B5963"/>
                </a:solidFill>
                <a:latin typeface="Calibri"/>
              </a:defRPr>
            </a:pPr>
            <a:r>
              <a:t>•  Geospatial nearby store discovery API (/api/stores/nearby).</a:t>
            </a:r>
          </a:p>
          <a:p>
            <a:pPr>
              <a:spcAft>
                <a:spcPts val="800"/>
              </a:spcAft>
              <a:defRPr sz="1100">
                <a:solidFill>
                  <a:srgbClr val="4B5963"/>
                </a:solidFill>
                <a:latin typeface="Calibri"/>
              </a:defRPr>
            </a:pPr>
            <a:r>
              <a:t>•  Atomic order lifecycle &amp; status update endpoints.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36208" y="1783080"/>
            <a:ext cx="2468880" cy="4297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6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510528" y="2103120"/>
            <a:ext cx="1005840" cy="292608"/>
          </a:xfrm>
          <a:prstGeom prst="round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10528" y="2121408"/>
            <a:ext cx="10058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1">
                <a:solidFill>
                  <a:srgbClr val="19313B"/>
                </a:solidFill>
                <a:latin typeface="Calibri"/>
              </a:defRPr>
            </a:pPr>
            <a:r>
              <a:t>PHASE 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10528" y="2560320"/>
            <a:ext cx="192024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600" b="1">
                <a:solidFill>
                  <a:srgbClr val="11232B"/>
                </a:solidFill>
                <a:latin typeface="Calibri"/>
              </a:defRPr>
            </a:pPr>
            <a:r>
              <a:t>Frontend Portals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10528" y="3108960"/>
            <a:ext cx="1920240" cy="2834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100">
                <a:solidFill>
                  <a:srgbClr val="4B5963"/>
                </a:solidFill>
                <a:latin typeface="Calibri"/>
              </a:defRPr>
            </a:pPr>
            <a:r>
              <a:t>•  Buyer portal: GPS auto-detect &amp; Leaflet.js 5 km radius map.</a:t>
            </a:r>
          </a:p>
          <a:p>
            <a:pPr>
              <a:spcAft>
                <a:spcPts val="800"/>
              </a:spcAft>
              <a:defRPr sz="1100">
                <a:solidFill>
                  <a:srgbClr val="4B5963"/>
                </a:solidFill>
                <a:latin typeface="Calibri"/>
              </a:defRPr>
            </a:pPr>
            <a:r>
              <a:t>•  Universal search with multi-store price comparison modal.</a:t>
            </a:r>
          </a:p>
          <a:p>
            <a:pPr>
              <a:spcAft>
                <a:spcPts val="800"/>
              </a:spcAft>
              <a:defRPr sz="1100">
                <a:solidFill>
                  <a:srgbClr val="4B5963"/>
                </a:solidFill>
                <a:latin typeface="Calibri"/>
              </a:defRPr>
            </a:pPr>
            <a:r>
              <a:t>•  Cart &amp; checkout (doorstep delivery vs store pickup).</a:t>
            </a:r>
          </a:p>
          <a:p>
            <a:pPr>
              <a:spcAft>
                <a:spcPts val="800"/>
              </a:spcAft>
              <a:defRPr sz="1100">
                <a:solidFill>
                  <a:srgbClr val="4B5963"/>
                </a:solidFill>
                <a:latin typeface="Calibri"/>
              </a:defRPr>
            </a:pPr>
            <a:r>
              <a:t>•  Seller dashboard: Mobile-first layout with Socket.io chimes.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988552" y="1783080"/>
            <a:ext cx="2468880" cy="4297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6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9262872" y="2103120"/>
            <a:ext cx="1005840" cy="292608"/>
          </a:xfrm>
          <a:prstGeom prst="round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262872" y="2121408"/>
            <a:ext cx="10058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1">
                <a:solidFill>
                  <a:srgbClr val="19313B"/>
                </a:solidFill>
                <a:latin typeface="Calibri"/>
              </a:defRPr>
            </a:pPr>
            <a:r>
              <a:t>PHASE 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262872" y="2560320"/>
            <a:ext cx="192024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600" b="1">
                <a:solidFill>
                  <a:srgbClr val="11232B"/>
                </a:solidFill>
                <a:latin typeface="Calibri"/>
              </a:defRPr>
            </a:pPr>
            <a:r>
              <a:t>Innovation Edge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262872" y="3108960"/>
            <a:ext cx="1920240" cy="2834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100">
                <a:solidFill>
                  <a:srgbClr val="4B5963"/>
                </a:solidFill>
                <a:latin typeface="Calibri"/>
              </a:defRPr>
            </a:pPr>
            <a:r>
              <a:t>•  Local Price Comparison radar across neighborhood shops.</a:t>
            </a:r>
          </a:p>
          <a:p>
            <a:pPr>
              <a:spcAft>
                <a:spcPts val="800"/>
              </a:spcAft>
              <a:defRPr sz="1100">
                <a:solidFill>
                  <a:srgbClr val="4B5963"/>
                </a:solidFill>
                <a:latin typeface="Calibri"/>
              </a:defRPr>
            </a:pPr>
            <a:r>
              <a:t>•  WhatsApp order webhook alerts sent directly to merchants.</a:t>
            </a:r>
          </a:p>
          <a:p>
            <a:pPr>
              <a:spcAft>
                <a:spcPts val="800"/>
              </a:spcAft>
              <a:defRPr sz="1100">
                <a:solidFill>
                  <a:srgbClr val="4B5963"/>
                </a:solidFill>
                <a:latin typeface="Calibri"/>
              </a:defRPr>
            </a:pPr>
            <a:r>
              <a:t>•  Automated low-stock safety warnings (&lt; 3 units).</a:t>
            </a:r>
          </a:p>
          <a:p>
            <a:pPr>
              <a:spcAft>
                <a:spcPts val="800"/>
              </a:spcAft>
              <a:defRPr sz="1100">
                <a:solidFill>
                  <a:srgbClr val="4B5963"/>
                </a:solidFill>
                <a:latin typeface="Calibri"/>
              </a:defRPr>
            </a:pPr>
            <a:r>
              <a:t>•  End-to-end user &amp; seller validation for hackathon demo.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02920"/>
            <a:ext cx="10728655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800" b="1">
                <a:solidFill>
                  <a:srgbClr val="11232B"/>
                </a:solidFill>
                <a:latin typeface="Georgia"/>
              </a:defRPr>
            </a:pPr>
            <a:r>
              <a:t>Impact and target users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15568"/>
            <a:ext cx="10728655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350">
                <a:solidFill>
                  <a:srgbClr val="4A5860"/>
                </a:solidFill>
                <a:latin typeface="Calibri"/>
              </a:defRPr>
            </a:pPr>
            <a:r>
              <a:t>Generating digital equity, preserving retail margins, and empowering local neighborhoods.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00800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00">
                <a:solidFill>
                  <a:srgbClr val="8B9BA5"/>
                </a:solidFill>
                <a:latin typeface="Calibri"/>
              </a:defRPr>
            </a:pPr>
            <a:r>
              <a:t>LocalKaart  |  Team Hexapulse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00800"/>
            <a:ext cx="48737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defRPr sz="1000">
                <a:solidFill>
                  <a:srgbClr val="8B9BA5"/>
                </a:solidFill>
                <a:latin typeface="Calibri"/>
              </a:defRPr>
            </a:pPr>
            <a:r>
              <a:t>11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783080"/>
            <a:ext cx="3337560" cy="4297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6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badge_sto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2148840"/>
            <a:ext cx="777240" cy="77724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097280" y="3108960"/>
            <a:ext cx="2606040" cy="2834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400"/>
              </a:spcAft>
              <a:defRPr sz="1800" b="1">
                <a:solidFill>
                  <a:srgbClr val="11232B"/>
                </a:solidFill>
                <a:latin typeface="Calibri"/>
              </a:defRPr>
            </a:pPr>
            <a:r>
              <a:t>Local sellers</a:t>
            </a:r>
          </a:p>
          <a:p>
            <a:pPr>
              <a:spcAft>
                <a:spcPts val="1000"/>
              </a:spcAft>
              <a:defRPr sz="1200">
                <a:solidFill>
                  <a:srgbClr val="4B5963"/>
                </a:solidFill>
                <a:latin typeface="Calibri"/>
              </a:defRPr>
            </a:pPr>
            <a:r>
              <a:t>•  Online identity without building a website or technical hurdles.</a:t>
            </a:r>
          </a:p>
          <a:p>
            <a:pPr>
              <a:spcAft>
                <a:spcPts val="1000"/>
              </a:spcAft>
              <a:defRPr sz="1200">
                <a:solidFill>
                  <a:srgbClr val="4B5963"/>
                </a:solidFill>
                <a:latin typeface="Calibri"/>
              </a:defRPr>
            </a:pPr>
            <a:r>
              <a:t>•  Less manual work: phone inventory and live stock alerts.</a:t>
            </a:r>
          </a:p>
          <a:p>
            <a:pPr>
              <a:spcAft>
                <a:spcPts val="1000"/>
              </a:spcAft>
              <a:defRPr sz="1200">
                <a:solidFill>
                  <a:srgbClr val="4B5963"/>
                </a:solidFill>
                <a:latin typeface="Calibri"/>
              </a:defRPr>
            </a:pPr>
            <a:r>
              <a:t>•  0% commission leakage: keep 100% of profit margins.</a:t>
            </a:r>
          </a:p>
          <a:p>
            <a:pPr>
              <a:spcAft>
                <a:spcPts val="1000"/>
              </a:spcAft>
              <a:defRPr sz="1200">
                <a:solidFill>
                  <a:srgbClr val="4B5963"/>
                </a:solidFill>
                <a:latin typeface="Calibri"/>
              </a:defRPr>
            </a:pPr>
            <a:r>
              <a:t>•  Direct bond and customer ownership in the neighborhood.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25696" y="1783080"/>
            <a:ext cx="3337560" cy="4297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6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badge_user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91456" y="2148840"/>
            <a:ext cx="777240" cy="77724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4791456" y="3108960"/>
            <a:ext cx="2606040" cy="2834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400"/>
              </a:spcAft>
              <a:defRPr sz="1800" b="1">
                <a:solidFill>
                  <a:srgbClr val="11232B"/>
                </a:solidFill>
                <a:latin typeface="Calibri"/>
              </a:defRPr>
            </a:pPr>
            <a:r>
              <a:t>Local buyers</a:t>
            </a:r>
          </a:p>
          <a:p>
            <a:pPr>
              <a:spcAft>
                <a:spcPts val="1000"/>
              </a:spcAft>
              <a:defRPr sz="1200">
                <a:solidFill>
                  <a:srgbClr val="4B5963"/>
                </a:solidFill>
                <a:latin typeface="Calibri"/>
              </a:defRPr>
            </a:pPr>
            <a:r>
              <a:t>•  Find what is available nearby within a 5 km radius instantly.</a:t>
            </a:r>
          </a:p>
          <a:p>
            <a:pPr>
              <a:spcAft>
                <a:spcPts val="1000"/>
              </a:spcAft>
              <a:defRPr sz="1200">
                <a:solidFill>
                  <a:srgbClr val="4B5963"/>
                </a:solidFill>
                <a:latin typeface="Calibri"/>
              </a:defRPr>
            </a:pPr>
            <a:r>
              <a:t>•  Compare, order, and track delivery in one unified app.</a:t>
            </a:r>
          </a:p>
          <a:p>
            <a:pPr>
              <a:spcAft>
                <a:spcPts val="1000"/>
              </a:spcAft>
              <a:defRPr sz="1200">
                <a:solidFill>
                  <a:srgbClr val="4B5963"/>
                </a:solidFill>
                <a:latin typeface="Calibri"/>
              </a:defRPr>
            </a:pPr>
            <a:r>
              <a:t>•  Sub-hour neighborhood fulfillment vs 2–4 day national shipping.</a:t>
            </a:r>
          </a:p>
          <a:p>
            <a:pPr>
              <a:spcAft>
                <a:spcPts val="1000"/>
              </a:spcAft>
              <a:defRPr sz="1200">
                <a:solidFill>
                  <a:srgbClr val="4B5963"/>
                </a:solidFill>
                <a:latin typeface="Calibri"/>
              </a:defRPr>
            </a:pPr>
            <a:r>
              <a:t>•  Transparent price comparison across neighborhood stores.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19872" y="1783080"/>
            <a:ext cx="3337560" cy="4297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6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badge_economy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85632" y="2148840"/>
            <a:ext cx="777240" cy="77724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8485632" y="3108960"/>
            <a:ext cx="2606040" cy="2834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400"/>
              </a:spcAft>
              <a:defRPr sz="1800" b="1">
                <a:solidFill>
                  <a:srgbClr val="11232B"/>
                </a:solidFill>
                <a:latin typeface="Calibri"/>
              </a:defRPr>
            </a:pPr>
            <a:r>
              <a:t>Local economy</a:t>
            </a:r>
          </a:p>
          <a:p>
            <a:pPr>
              <a:spcAft>
                <a:spcPts val="1000"/>
              </a:spcAft>
              <a:defRPr sz="1200">
                <a:solidFill>
                  <a:srgbClr val="4B5963"/>
                </a:solidFill>
                <a:latin typeface="Calibri"/>
              </a:defRPr>
            </a:pPr>
            <a:r>
              <a:t>•  Consumer spending stays inside the community.</a:t>
            </a:r>
          </a:p>
          <a:p>
            <a:pPr>
              <a:spcAft>
                <a:spcPts val="1000"/>
              </a:spcAft>
              <a:defRPr sz="1200">
                <a:solidFill>
                  <a:srgbClr val="4B5963"/>
                </a:solidFill>
                <a:latin typeface="Calibri"/>
              </a:defRPr>
            </a:pPr>
            <a:r>
              <a:t>•  Fairer competition against mega platforms and quick-commerce.</a:t>
            </a:r>
          </a:p>
          <a:p>
            <a:pPr>
              <a:spcAft>
                <a:spcPts val="1000"/>
              </a:spcAft>
              <a:defRPr sz="1200">
                <a:solidFill>
                  <a:srgbClr val="4B5963"/>
                </a:solidFill>
                <a:latin typeface="Calibri"/>
              </a:defRPr>
            </a:pPr>
            <a:r>
              <a:t>•  Creates neighborhood micro-delivery and gig opportunities.</a:t>
            </a:r>
          </a:p>
          <a:p>
            <a:pPr>
              <a:spcAft>
                <a:spcPts val="1000"/>
              </a:spcAft>
              <a:defRPr sz="1200">
                <a:solidFill>
                  <a:srgbClr val="4B5963"/>
                </a:solidFill>
                <a:latin typeface="Calibri"/>
              </a:defRPr>
            </a:pPr>
            <a:r>
              <a:t>•  Reduces urban packaging waste through shorter delivery routes.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931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02920"/>
            <a:ext cx="10728655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Georgia"/>
              </a:defRPr>
            </a:pPr>
            <a:r>
              <a:t>Future scope and roadmap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15568"/>
            <a:ext cx="10728655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350">
                <a:solidFill>
                  <a:srgbClr val="9FB2BB"/>
                </a:solidFill>
                <a:latin typeface="Calibri"/>
              </a:defRPr>
            </a:pPr>
            <a:r>
              <a:t>Strategic expansion roadmap from Hackathon MVP to ubiquitous neighborhood infrastructure.</a:t>
            </a:r>
          </a:p>
        </p:txBody>
      </p:sp>
      <p:sp>
        <p:nvSpPr>
          <p:cNvPr id="5" name="Rectangle 4"/>
          <p:cNvSpPr/>
          <p:nvPr/>
        </p:nvSpPr>
        <p:spPr>
          <a:xfrm>
            <a:off x="1645920" y="2542032"/>
            <a:ext cx="8961120" cy="36576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783080" y="2240280"/>
            <a:ext cx="640080" cy="640080"/>
          </a:xfrm>
          <a:prstGeom prst="ellipse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783080" y="2331720"/>
            <a:ext cx="6400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19313B"/>
                </a:solidFill>
                <a:latin typeface="Calibri"/>
              </a:defRPr>
            </a:pPr>
            <a: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017520"/>
            <a:ext cx="23774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1700" b="1">
                <a:solidFill>
                  <a:srgbClr val="FFFFFF"/>
                </a:solidFill>
                <a:latin typeface="Calibri"/>
              </a:defRPr>
            </a:pPr>
            <a:r>
              <a:t>Hackathon MVP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429000"/>
            <a:ext cx="237744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1200">
                <a:solidFill>
                  <a:srgbClr val="9FB2BB"/>
                </a:solidFill>
                <a:latin typeface="Calibri"/>
              </a:defRPr>
            </a:pPr>
            <a:r>
              <a:t>Core marketplace for sellers and buyers with live order tracking.</a:t>
            </a:r>
          </a:p>
        </p:txBody>
      </p:sp>
      <p:sp>
        <p:nvSpPr>
          <p:cNvPr id="10" name="Oval 9"/>
          <p:cNvSpPr/>
          <p:nvPr/>
        </p:nvSpPr>
        <p:spPr>
          <a:xfrm>
            <a:off x="4526280" y="2240280"/>
            <a:ext cx="640080" cy="640080"/>
          </a:xfrm>
          <a:prstGeom prst="ellipse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26280" y="2331720"/>
            <a:ext cx="6400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19313B"/>
                </a:solidFill>
                <a:latin typeface="Calibri"/>
              </a:defRPr>
            </a:pPr>
            <a: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0" y="3017520"/>
            <a:ext cx="23774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1700" b="1">
                <a:solidFill>
                  <a:srgbClr val="FFFFFF"/>
                </a:solidFill>
                <a:latin typeface="Calibri"/>
              </a:defRPr>
            </a:pPr>
            <a:r>
              <a:t>Payments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0" y="3429000"/>
            <a:ext cx="237744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1200">
                <a:solidFill>
                  <a:srgbClr val="9FB2BB"/>
                </a:solidFill>
                <a:latin typeface="Calibri"/>
              </a:defRPr>
            </a:pPr>
            <a:r>
              <a:t>Online payments with integrated UPI, cards, and automated escrow.</a:t>
            </a:r>
          </a:p>
        </p:txBody>
      </p:sp>
      <p:sp>
        <p:nvSpPr>
          <p:cNvPr id="14" name="Oval 13"/>
          <p:cNvSpPr/>
          <p:nvPr/>
        </p:nvSpPr>
        <p:spPr>
          <a:xfrm>
            <a:off x="7269480" y="2240280"/>
            <a:ext cx="640080" cy="640080"/>
          </a:xfrm>
          <a:prstGeom prst="ellipse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269480" y="2331720"/>
            <a:ext cx="6400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19313B"/>
                </a:solidFill>
                <a:latin typeface="Calibri"/>
              </a:defRPr>
            </a:pPr>
            <a: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3017520"/>
            <a:ext cx="23774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1700" b="1">
                <a:solidFill>
                  <a:srgbClr val="FFFFFF"/>
                </a:solidFill>
                <a:latin typeface="Calibri"/>
              </a:defRPr>
            </a:pPr>
            <a:r>
              <a:t>Logistics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0" y="3429000"/>
            <a:ext cx="237744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1200">
                <a:solidFill>
                  <a:srgbClr val="9FB2BB"/>
                </a:solidFill>
                <a:latin typeface="Calibri"/>
              </a:defRPr>
            </a:pPr>
            <a:r>
              <a:t>Delivery partner APIs, automated batching, and WhatsApp alerts.</a:t>
            </a:r>
          </a:p>
        </p:txBody>
      </p:sp>
      <p:sp>
        <p:nvSpPr>
          <p:cNvPr id="18" name="Oval 17"/>
          <p:cNvSpPr/>
          <p:nvPr/>
        </p:nvSpPr>
        <p:spPr>
          <a:xfrm>
            <a:off x="10012680" y="2240280"/>
            <a:ext cx="640080" cy="640080"/>
          </a:xfrm>
          <a:prstGeom prst="ellipse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012680" y="2331720"/>
            <a:ext cx="6400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19313B"/>
                </a:solidFill>
                <a:latin typeface="Calibri"/>
              </a:defRPr>
            </a:pPr>
            <a: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0" y="3017520"/>
            <a:ext cx="23774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1700" b="1">
                <a:solidFill>
                  <a:srgbClr val="FFFFFF"/>
                </a:solidFill>
                <a:latin typeface="Calibri"/>
              </a:defRPr>
            </a:pPr>
            <a:r>
              <a:t>Reach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0" y="3429000"/>
            <a:ext cx="237744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1200">
                <a:solidFill>
                  <a:srgbClr val="9FB2BB"/>
                </a:solidFill>
                <a:latin typeface="Calibri"/>
              </a:defRPr>
            </a:pPr>
            <a:r>
              <a:t>Multiple languages, voice search, and smart AI recommendations.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828800" y="4617720"/>
            <a:ext cx="8534095" cy="1645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800"/>
              </a:spcAft>
              <a:defRPr sz="4000" b="1">
                <a:solidFill>
                  <a:srgbClr val="FFFFFF"/>
                </a:solidFill>
                <a:latin typeface="Georgia"/>
              </a:defRPr>
            </a:pPr>
            <a:r>
              <a:t>Thank you</a:t>
            </a:r>
          </a:p>
          <a:p>
            <a:pPr algn="ctr">
              <a:spcAft>
                <a:spcPts val="400"/>
              </a:spcAft>
              <a:defRPr sz="1800" b="1">
                <a:solidFill>
                  <a:srgbClr val="F5A623"/>
                </a:solidFill>
                <a:latin typeface="Calibri"/>
              </a:defRPr>
            </a:pPr>
            <a:r>
              <a:t>Team Hexapulse  |  LocalKaart</a:t>
            </a:r>
          </a:p>
          <a:p>
            <a:pPr algn="ctr">
              <a:defRPr sz="1300">
                <a:solidFill>
                  <a:srgbClr val="9FB2BB"/>
                </a:solidFill>
                <a:latin typeface="Calibri"/>
              </a:defRPr>
            </a:pPr>
            <a:r>
              <a:t>KLE Technological University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