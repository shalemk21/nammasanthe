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₹000</c:v>
                </c:pt>
              </c:strCache>
            </c:strRef>
          </c:tx>
          <c:spPr>
            <a:ln w="38100">
              <a:solidFill>
                <a:srgbClr val="1E5336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54</c:v>
                </c:pt>
                <c:pt idx="2">
                  <c:v>61</c:v>
                </c:pt>
                <c:pt idx="3">
                  <c:v>74</c:v>
                </c:pt>
                <c:pt idx="4">
                  <c:v>88</c:v>
                </c:pt>
                <c:pt idx="5">
                  <c:v>105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>
              <a:solidFill>
                <a:srgbClr val="E86A33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</c:v>
                </c:pt>
                <c:pt idx="1">
                  <c:v>34</c:v>
                </c:pt>
                <c:pt idx="2">
                  <c:v>48</c:v>
                </c:pt>
                <c:pt idx="3">
                  <c:v>57</c:v>
                </c:pt>
                <c:pt idx="4">
                  <c:v>70</c:v>
                </c:pt>
                <c:pt idx="5">
                  <c:v>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492" y="0"/>
            <a:ext cx="4826203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737360"/>
            <a:ext cx="62179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1E5336"/>
                </a:solidFill>
                <a:latin typeface="Segoe UI"/>
              </a:defRPr>
            </a:pPr>
            <a:r>
              <a:t>Namma Santhe</a:t>
            </a:r>
          </a:p>
          <a:p>
            <a:pPr>
              <a:spcBef>
                <a:spcPts val="600"/>
              </a:spcBef>
              <a:defRPr sz="3800" b="1">
                <a:solidFill>
                  <a:srgbClr val="1E5336"/>
                </a:solidFill>
                <a:latin typeface="Nirmala UI"/>
              </a:defRPr>
            </a:pPr>
            <a:r>
              <a:t>ನಮ್ಮ ಸಂತೆ</a:t>
            </a:r>
          </a:p>
          <a:p>
            <a:pPr>
              <a:spcBef>
                <a:spcPts val="1800"/>
              </a:spcBef>
              <a:defRPr sz="2100" b="0">
                <a:solidFill>
                  <a:srgbClr val="E86A33"/>
                </a:solidFill>
                <a:latin typeface="Segoe UI"/>
              </a:defRPr>
            </a:pPr>
            <a:r>
              <a:t>Local produce, local shops, local love</a:t>
            </a:r>
          </a:p>
          <a:p>
            <a:pPr>
              <a:spcBef>
                <a:spcPts val="12000"/>
              </a:spcBef>
              <a:defRPr sz="1400">
                <a:solidFill>
                  <a:srgbClr val="646E69"/>
                </a:solidFill>
                <a:latin typeface="Segoe UI"/>
              </a:defRPr>
            </a:pPr>
            <a:r>
              <a:t>HEXAPLUSE (TEAM)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500"/>
              </a:spcBef>
              <a:defRPr sz="1700" b="1">
                <a:solidFill>
                  <a:srgbClr val="E86A33"/>
                </a:solidFill>
                <a:latin typeface="Segoe UI"/>
              </a:defRPr>
            </a:pPr>
            <a:r>
              <a:t>Local products deserve a bigger stage!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029200" cy="420624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tIns="320040" rIns="320040"/>
          <a:lstStyle/>
          <a:p>
            <a:pPr algn="ctr">
              <a:defRPr sz="1600" b="1">
                <a:solidFill>
                  <a:srgbClr val="232F28"/>
                </a:solidFill>
                <a:latin typeface="Segoe UI"/>
              </a:defRPr>
            </a:pPr>
            <a:r>
              <a:t>SELLERS</a:t>
            </a:r>
          </a:p>
          <a:p>
            <a:pPr>
              <a:spcBef>
                <a:spcPts val="1400"/>
              </a:spcBef>
              <a:defRPr sz="1450">
                <a:solidFill>
                  <a:srgbClr val="232F28"/>
                </a:solidFill>
                <a:latin typeface="Segoe UI"/>
              </a:defRPr>
            </a:pPr>
            <a:r>
              <a:t>• Limited online visibility and no searchable digital storefront</a:t>
            </a:r>
          </a:p>
          <a:p>
            <a:pPr>
              <a:spcBef>
                <a:spcPts val="1400"/>
              </a:spcBef>
              <a:defRPr sz="1450">
                <a:solidFill>
                  <a:srgbClr val="232F28"/>
                </a:solidFill>
                <a:latin typeface="Segoe UI"/>
              </a:defRPr>
            </a:pPr>
            <a:r>
              <a:t>• Weak logistics and delivery reach outside walking distance</a:t>
            </a:r>
          </a:p>
          <a:p>
            <a:pPr>
              <a:spcBef>
                <a:spcPts val="1400"/>
              </a:spcBef>
              <a:defRPr sz="1450">
                <a:solidFill>
                  <a:srgbClr val="232F28"/>
                </a:solidFill>
                <a:latin typeface="Segoe UI"/>
              </a:defRPr>
            </a:pPr>
            <a:r>
              <a:t>• High commissions (18% – 35% on large aggregators)</a:t>
            </a:r>
          </a:p>
          <a:p>
            <a:pPr>
              <a:spcBef>
                <a:spcPts val="1400"/>
              </a:spcBef>
              <a:defRPr sz="1450">
                <a:solidFill>
                  <a:srgbClr val="232F28"/>
                </a:solidFill>
                <a:latin typeface="Segoe UI"/>
              </a:defRPr>
            </a:pPr>
            <a:r>
              <a:t>• Inventory and payment struggles with manual paper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029200" cy="420624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tIns="320040" rIns="320040"/>
          <a:lstStyle/>
          <a:p>
            <a:pPr algn="ctr">
              <a:defRPr sz="1600" b="1">
                <a:solidFill>
                  <a:srgbClr val="1E5336"/>
                </a:solidFill>
                <a:latin typeface="Segoe UI"/>
              </a:defRPr>
            </a:pPr>
            <a:r>
              <a:t>CUSTOMERS</a:t>
            </a:r>
          </a:p>
          <a:p>
            <a:pPr>
              <a:spcBef>
                <a:spcPts val="1400"/>
              </a:spcBef>
              <a:defRPr sz="1450">
                <a:solidFill>
                  <a:srgbClr val="232F28"/>
                </a:solidFill>
                <a:latin typeface="Segoe UI"/>
              </a:defRPr>
            </a:pPr>
            <a:r>
              <a:t>• Few trusted local sellers available online in one place</a:t>
            </a:r>
          </a:p>
          <a:p>
            <a:pPr>
              <a:spcBef>
                <a:spcPts val="1400"/>
              </a:spcBef>
              <a:defRPr sz="1450">
                <a:solidFill>
                  <a:srgbClr val="232F28"/>
                </a:solidFill>
                <a:latin typeface="Segoe UI"/>
              </a:defRPr>
            </a:pPr>
            <a:r>
              <a:t>• Fragmented shopping experience across physical markets</a:t>
            </a:r>
          </a:p>
          <a:p>
            <a:pPr>
              <a:spcBef>
                <a:spcPts val="1400"/>
              </a:spcBef>
              <a:defRPr sz="1450">
                <a:solidFill>
                  <a:srgbClr val="232F28"/>
                </a:solidFill>
                <a:latin typeface="Segoe UI"/>
              </a:defRPr>
            </a:pPr>
            <a:r>
              <a:t>• Limited product assortment information and unknown stock</a:t>
            </a:r>
          </a:p>
          <a:p>
            <a:pPr>
              <a:spcBef>
                <a:spcPts val="1400"/>
              </a:spcBef>
              <a:defRPr sz="1450">
                <a:solidFill>
                  <a:srgbClr val="232F28"/>
                </a:solidFill>
                <a:latin typeface="Segoe UI"/>
              </a:defRPr>
            </a:pPr>
            <a:r>
              <a:t>• Hard to compare nearby options and prices before traveling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560320"/>
            <a:ext cx="3383280" cy="2011680"/>
          </a:xfrm>
          <a:prstGeom prst="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NAMMA SANTHE</a:t>
            </a:r>
            <a:br/>
            <a:r>
              <a:t>ನಮ್ಮ ಸಂತೆ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3291840" y="2194560"/>
            <a:ext cx="1097280" cy="1005840"/>
          </a:xfrm>
          <a:prstGeom prst="line">
            <a:avLst/>
          </a:prstGeom>
          <a:ln w="31750">
            <a:solidFill>
              <a:srgbClr val="E86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291840" y="3931920"/>
            <a:ext cx="1097280" cy="1005840"/>
          </a:xfrm>
          <a:prstGeom prst="line">
            <a:avLst/>
          </a:prstGeom>
          <a:ln w="31750">
            <a:solidFill>
              <a:srgbClr val="E86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772400" y="2194560"/>
            <a:ext cx="1097280" cy="1005840"/>
          </a:xfrm>
          <a:prstGeom prst="line">
            <a:avLst/>
          </a:prstGeom>
          <a:ln w="31750">
            <a:solidFill>
              <a:srgbClr val="E86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0" y="3931920"/>
            <a:ext cx="1097280" cy="1005840"/>
          </a:xfrm>
          <a:prstGeom prst="line">
            <a:avLst/>
          </a:prstGeom>
          <a:ln w="31750">
            <a:solidFill>
              <a:srgbClr val="E86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88720" y="1737360"/>
            <a:ext cx="2560320" cy="128016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232F28"/>
                </a:solidFill>
                <a:latin typeface="Segoe UI"/>
              </a:defRPr>
            </a:pPr>
            <a:r>
              <a:t>Digital storefronts</a:t>
            </a:r>
            <a:br/>
            <a:r>
              <a:t>(Kannada &amp; English Catalog)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480560"/>
            <a:ext cx="2560320" cy="128016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232F28"/>
                </a:solidFill>
                <a:latin typeface="Segoe UI"/>
              </a:defRPr>
            </a:pPr>
            <a:r>
              <a:t>Secure payment</a:t>
            </a:r>
            <a:br/>
            <a:r>
              <a:t>(Instant UPI &amp; Escrow)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737360"/>
            <a:ext cx="2560320" cy="128016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232F28"/>
                </a:solidFill>
                <a:latin typeface="Segoe UI"/>
              </a:defRPr>
            </a:pPr>
            <a:r>
              <a:t>Orders</a:t>
            </a:r>
            <a:br/>
            <a:r>
              <a:t>(Real-time live seller alerts)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480560"/>
            <a:ext cx="2560320" cy="128016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232F28"/>
                </a:solidFill>
                <a:latin typeface="Segoe UI"/>
              </a:defRPr>
            </a:pPr>
            <a:r>
              <a:t>Delivery tracking</a:t>
            </a:r>
            <a:br/>
            <a:r>
              <a:t>(Hyperlocal partner routing)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035040"/>
            <a:ext cx="6705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86A33"/>
                </a:solidFill>
                <a:latin typeface="Segoe UI"/>
              </a:defRPr>
            </a:pPr>
            <a:r>
              <a:t>Seamless. Simple.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232F28"/>
                </a:solidFill>
                <a:latin typeface="Segoe UI"/>
              </a:defRPr>
            </a:pPr>
            <a:r>
              <a:t>1 Discover</a:t>
            </a:r>
          </a:p>
          <a:p>
            <a:pPr>
              <a:defRPr sz="1200">
                <a:solidFill>
                  <a:srgbClr val="646E69"/>
                </a:solidFill>
                <a:latin typeface="Segoe UI"/>
              </a:defRPr>
            </a:pPr>
            <a:r>
              <a:t>Browse nearby verified santhes &amp; neighborhood shops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109728" cy="548640"/>
          </a:xfrm>
          <a:prstGeom prst="rect">
            <a:avLst/>
          </a:prstGeom>
          <a:solidFill>
            <a:srgbClr val="E1A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232F28"/>
                </a:solidFill>
                <a:latin typeface="Segoe UI"/>
              </a:defRPr>
            </a:pPr>
            <a:r>
              <a:t>2 Compare</a:t>
            </a:r>
          </a:p>
          <a:p>
            <a:pPr>
              <a:defRPr sz="1200">
                <a:solidFill>
                  <a:srgbClr val="646E69"/>
                </a:solidFill>
                <a:latin typeface="Segoe UI"/>
              </a:defRPr>
            </a:pPr>
            <a:r>
              <a:t>Check live rates for fresh produce across local stalls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9184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232F28"/>
                </a:solidFill>
                <a:latin typeface="Segoe UI"/>
              </a:defRPr>
            </a:pPr>
            <a:r>
              <a:t>3 Order</a:t>
            </a:r>
          </a:p>
          <a:p>
            <a:pPr>
              <a:defRPr sz="1200">
                <a:solidFill>
                  <a:srgbClr val="646E69"/>
                </a:solidFill>
                <a:latin typeface="Segoe UI"/>
              </a:defRPr>
            </a:pPr>
            <a:r>
              <a:t>Add fresh items to cart with single-click ordering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69080"/>
            <a:ext cx="109728" cy="548640"/>
          </a:xfrm>
          <a:prstGeom prst="rect">
            <a:avLst/>
          </a:prstGeom>
          <a:solidFill>
            <a:srgbClr val="E1A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2336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232F28"/>
                </a:solidFill>
                <a:latin typeface="Segoe UI"/>
              </a:defRPr>
            </a:pPr>
            <a:r>
              <a:t>4 Pay</a:t>
            </a:r>
          </a:p>
          <a:p>
            <a:pPr>
              <a:defRPr sz="1200">
                <a:solidFill>
                  <a:srgbClr val="646E69"/>
                </a:solidFill>
                <a:latin typeface="Segoe UI"/>
              </a:defRPr>
            </a:pPr>
            <a:r>
              <a:t>Fast, secure UPI QR, card, or Cash on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84632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80060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232F28"/>
                </a:solidFill>
                <a:latin typeface="Segoe UI"/>
              </a:defRPr>
            </a:pPr>
            <a:r>
              <a:t>5 Track</a:t>
            </a:r>
          </a:p>
          <a:p>
            <a:pPr>
              <a:defRPr sz="1200">
                <a:solidFill>
                  <a:srgbClr val="646E69"/>
                </a:solidFill>
                <a:latin typeface="Segoe UI"/>
              </a:defRPr>
            </a:pPr>
            <a:r>
              <a:t>Real-time rider updates right to your doorstep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623559"/>
            <a:ext cx="109728" cy="548640"/>
          </a:xfrm>
          <a:prstGeom prst="rect">
            <a:avLst/>
          </a:prstGeom>
          <a:solidFill>
            <a:srgbClr val="E1A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57784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232F28"/>
                </a:solidFill>
                <a:latin typeface="Segoe UI"/>
              </a:defRPr>
            </a:pPr>
            <a:r>
              <a:t>6 Support Local</a:t>
            </a:r>
          </a:p>
          <a:p>
            <a:pPr>
              <a:defRPr sz="1200">
                <a:solidFill>
                  <a:srgbClr val="646E69"/>
                </a:solidFill>
                <a:latin typeface="Segoe UI"/>
              </a:defRPr>
            </a:pPr>
            <a:r>
              <a:t>Direct fair payment to local farmers and shopkeepers</a:t>
            </a:r>
          </a:p>
        </p:txBody>
      </p:sp>
      <p:pic>
        <p:nvPicPr>
          <p:cNvPr id="17" name="Picture 16" descr="art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2057400"/>
            <a:ext cx="548640" cy="548640"/>
          </a:xfrm>
          <a:prstGeom prst="ellipse">
            <a:avLst/>
          </a:prstGeom>
          <a:solidFill>
            <a:srgbClr val="1E5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232F28"/>
                </a:solidFill>
                <a:latin typeface="Segoe UI"/>
              </a:defRPr>
            </a:pPr>
            <a:r>
              <a:t>Nearby discovery</a:t>
            </a:r>
          </a:p>
          <a:p>
            <a:pPr algn="ctr">
              <a:spcBef>
                <a:spcPts val="400"/>
              </a:spcBef>
              <a:defRPr sz="1150">
                <a:solidFill>
                  <a:srgbClr val="646E69"/>
                </a:solidFill>
                <a:latin typeface="Segoe UI"/>
              </a:defRPr>
            </a:pPr>
            <a:r>
              <a:t>GPS radius locator, open/close status, and neighborhood santhe clusters.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291840" cy="201168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52160" y="2057400"/>
            <a:ext cx="548640" cy="548640"/>
          </a:xfrm>
          <a:prstGeom prst="ellipse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69748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232F28"/>
                </a:solidFill>
                <a:latin typeface="Segoe UI"/>
              </a:defRPr>
            </a:pPr>
            <a:r>
              <a:t>Smart compare</a:t>
            </a:r>
          </a:p>
          <a:p>
            <a:pPr algn="ctr">
              <a:spcBef>
                <a:spcPts val="400"/>
              </a:spcBef>
              <a:defRPr sz="1150">
                <a:solidFill>
                  <a:srgbClr val="646E69"/>
                </a:solidFill>
                <a:latin typeface="Segoe UI"/>
              </a:defRPr>
            </a:pPr>
            <a:r>
              <a:t>Real-time price comparison of fresh produce across local sellers.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828800"/>
            <a:ext cx="3291840" cy="201168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0" y="2057400"/>
            <a:ext cx="548640" cy="548640"/>
          </a:xfrm>
          <a:prstGeom prst="ellipse">
            <a:avLst/>
          </a:prstGeom>
          <a:solidFill>
            <a:srgbClr val="1E5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9748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232F28"/>
                </a:solidFill>
                <a:latin typeface="Segoe UI"/>
              </a:defRPr>
            </a:pPr>
            <a:r>
              <a:t>Personal offers</a:t>
            </a:r>
          </a:p>
          <a:p>
            <a:pPr algn="ctr">
              <a:spcBef>
                <a:spcPts val="400"/>
              </a:spcBef>
              <a:defRPr sz="1150">
                <a:solidFill>
                  <a:srgbClr val="646E69"/>
                </a:solidFill>
                <a:latin typeface="Segoe UI"/>
              </a:defRPr>
            </a:pPr>
            <a:r>
              <a:t>Festive discounts, bulk vegetable baskets, and community perks.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06240"/>
            <a:ext cx="3291840" cy="201168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94560" y="4434840"/>
            <a:ext cx="548640" cy="548640"/>
          </a:xfrm>
          <a:prstGeom prst="ellipse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232F28"/>
                </a:solidFill>
                <a:latin typeface="Segoe UI"/>
              </a:defRPr>
            </a:pPr>
            <a:r>
              <a:t>Seller analytics</a:t>
            </a:r>
          </a:p>
          <a:p>
            <a:pPr algn="ctr">
              <a:spcBef>
                <a:spcPts val="400"/>
              </a:spcBef>
              <a:defRPr sz="1150">
                <a:solidFill>
                  <a:srgbClr val="646E69"/>
                </a:solidFill>
                <a:latin typeface="Segoe UI"/>
              </a:defRPr>
            </a:pPr>
            <a:r>
              <a:t>Daily revenue, order volume, bestsellers, and peak hours tracking.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206240"/>
            <a:ext cx="3291840" cy="201168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0" y="4434840"/>
            <a:ext cx="548640" cy="548640"/>
          </a:xfrm>
          <a:prstGeom prst="ellipse">
            <a:avLst/>
          </a:prstGeom>
          <a:solidFill>
            <a:srgbClr val="1E5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07492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232F28"/>
                </a:solidFill>
                <a:latin typeface="Segoe UI"/>
              </a:defRPr>
            </a:pPr>
            <a:r>
              <a:t>Digital dukaan</a:t>
            </a:r>
          </a:p>
          <a:p>
            <a:pPr algn="ctr">
              <a:spcBef>
                <a:spcPts val="400"/>
              </a:spcBef>
              <a:defRPr sz="1150">
                <a:solidFill>
                  <a:srgbClr val="646E69"/>
                </a:solidFill>
                <a:latin typeface="Segoe UI"/>
              </a:defRPr>
            </a:pPr>
            <a:r>
              <a:t>Kannada &amp; English storefront, instant photo catalog, and stock toggles.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206240"/>
            <a:ext cx="3291840" cy="201168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60" y="4434840"/>
            <a:ext cx="548640" cy="548640"/>
          </a:xfrm>
          <a:prstGeom prst="ellipse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507492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232F28"/>
                </a:solidFill>
                <a:latin typeface="Segoe UI"/>
              </a:defRPr>
            </a:pPr>
            <a:r>
              <a:t>Secure wallet</a:t>
            </a:r>
          </a:p>
          <a:p>
            <a:pPr algn="ctr">
              <a:spcBef>
                <a:spcPts val="400"/>
              </a:spcBef>
              <a:defRPr sz="1150">
                <a:solidFill>
                  <a:srgbClr val="646E69"/>
                </a:solidFill>
                <a:latin typeface="Segoe UI"/>
              </a:defRPr>
            </a:pPr>
            <a:r>
              <a:t>Direct UPI payouts to sellers with zero predatory platform commissions.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User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" cy="822960"/>
          </a:xfrm>
          <a:prstGeom prst="round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2140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32F28"/>
                </a:solidFill>
                <a:latin typeface="Segoe UI"/>
              </a:defRPr>
            </a:pPr>
            <a:r>
              <a:t>Browse local shops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502920" cy="822960"/>
          </a:xfrm>
          <a:prstGeom prst="round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08152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32F28"/>
                </a:solidFill>
                <a:latin typeface="Segoe UI"/>
              </a:defRPr>
            </a:pPr>
            <a:r>
              <a:t>Add to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502920" cy="822960"/>
          </a:xfrm>
          <a:prstGeom prst="round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0416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32F28"/>
                </a:solidFill>
                <a:latin typeface="Segoe UI"/>
              </a:defRPr>
            </a:pPr>
            <a:r>
              <a:t>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502920" cy="82296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50017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32F28"/>
                </a:solidFill>
                <a:latin typeface="Segoe UI"/>
              </a:defRPr>
            </a:pPr>
            <a:r>
              <a:t>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E86A33"/>
                </a:solidFill>
                <a:latin typeface="Segoe UI"/>
              </a:defRPr>
            </a:pPr>
            <a:r>
              <a:t>Shop Local. Support Small.</a:t>
            </a:r>
          </a:p>
          <a:p>
            <a:pPr>
              <a:defRPr sz="1650" b="1">
                <a:solidFill>
                  <a:srgbClr val="E86A33"/>
                </a:solidFill>
                <a:latin typeface="Segoe UI"/>
              </a:defRPr>
            </a:pPr>
            <a:r>
              <a:t>Build Stronger Communities.</a:t>
            </a:r>
          </a:p>
        </p:txBody>
      </p:sp>
      <p:pic>
        <p:nvPicPr>
          <p:cNvPr id="14" name="Picture 13" descr="art_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Seller Dashboard</a:t>
            </a:r>
          </a:p>
          <a:p>
            <a:pPr>
              <a:spcBef>
                <a:spcPts val="500"/>
              </a:spcBef>
              <a:defRPr sz="1700" b="1">
                <a:solidFill>
                  <a:srgbClr val="E86A33"/>
                </a:solidFill>
                <a:latin typeface="Segoe UI"/>
              </a:defRPr>
            </a:pPr>
            <a:r>
              <a:t>Empowering local micro-merchants with actionable growth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3108960" cy="118872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800" b="1">
                <a:solidFill>
                  <a:srgbClr val="1E5336"/>
                </a:solidFill>
                <a:latin typeface="Segoe UI"/>
              </a:defRPr>
            </a:pPr>
            <a:r>
              <a:t>₹1.05L</a:t>
            </a:r>
          </a:p>
          <a:p>
            <a:pPr>
              <a:spcBef>
                <a:spcPts val="200"/>
              </a:spcBef>
              <a:defRPr sz="1300">
                <a:solidFill>
                  <a:srgbClr val="232F28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74720"/>
            <a:ext cx="3108960" cy="118872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800" b="1">
                <a:solidFill>
                  <a:srgbClr val="1E5336"/>
                </a:solidFill>
                <a:latin typeface="Segoe UI"/>
              </a:defRPr>
            </a:pPr>
            <a:r>
              <a:t>82</a:t>
            </a:r>
          </a:p>
          <a:p>
            <a:pPr>
              <a:spcBef>
                <a:spcPts val="200"/>
              </a:spcBef>
              <a:defRPr sz="1300">
                <a:solidFill>
                  <a:srgbClr val="232F28"/>
                </a:solidFill>
                <a:latin typeface="Segoe UI"/>
              </a:defRPr>
            </a:pPr>
            <a:r>
              <a:t>Orders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3108960" cy="118872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800" b="1">
                <a:solidFill>
                  <a:srgbClr val="E86A33"/>
                </a:solidFill>
                <a:latin typeface="Segoe UI"/>
              </a:defRPr>
            </a:pPr>
            <a:r>
              <a:t>4</a:t>
            </a:r>
          </a:p>
          <a:p>
            <a:pPr>
              <a:spcBef>
                <a:spcPts val="200"/>
              </a:spcBef>
              <a:defRPr sz="1300">
                <a:solidFill>
                  <a:srgbClr val="232F28"/>
                </a:solidFill>
                <a:latin typeface="Segoe UI"/>
              </a:defRPr>
            </a:pPr>
            <a:r>
              <a:t>Stock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1E5336"/>
                </a:solidFill>
                <a:latin typeface="Nirmala UI"/>
              </a:defRPr>
            </a:pPr>
            <a:r>
              <a:t>ಮಾಸಿಕ ಬೆಳವಣಿಗೆ | Monthly growth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297680" y="2468880"/>
          <a:ext cx="71323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Customer View</a:t>
            </a:r>
          </a:p>
          <a:p>
            <a:pPr>
              <a:spcBef>
                <a:spcPts val="500"/>
              </a:spcBef>
              <a:defRPr sz="1700" b="1">
                <a:solidFill>
                  <a:srgbClr val="E86A33"/>
                </a:solidFill>
                <a:latin typeface="Segoe UI"/>
              </a:defRPr>
            </a:pPr>
            <a:r>
              <a:t>A familiar local shopping experience — now in your pocket.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232F28"/>
                </a:solidFill>
                <a:latin typeface="Segoe UI"/>
              </a:defRPr>
            </a:pPr>
            <a:r>
              <a:t>• Nearby shop listings and authentic community ratings</a:t>
            </a:r>
          </a:p>
          <a:p>
            <a:pPr>
              <a:spcBef>
                <a:spcPts val="1600"/>
              </a:spcBef>
              <a:defRPr sz="1600">
                <a:solidFill>
                  <a:srgbClr val="232F28"/>
                </a:solidFill>
                <a:latin typeface="Segoe UI"/>
              </a:defRPr>
            </a:pPr>
            <a:r>
              <a:t>• Kannada &amp; English bilingual product descriptions</a:t>
            </a:r>
          </a:p>
          <a:p>
            <a:pPr>
              <a:spcBef>
                <a:spcPts val="1600"/>
              </a:spcBef>
              <a:defRPr sz="1600">
                <a:solidFill>
                  <a:srgbClr val="232F28"/>
                </a:solidFill>
                <a:latin typeface="Segoe UI"/>
              </a:defRPr>
            </a:pPr>
            <a:r>
              <a:t>• Clear product details, transparent weight units, and live prices</a:t>
            </a:r>
          </a:p>
          <a:p>
            <a:pPr>
              <a:spcBef>
                <a:spcPts val="1600"/>
              </a:spcBef>
              <a:defRPr sz="1600">
                <a:solidFill>
                  <a:srgbClr val="232F28"/>
                </a:solidFill>
                <a:latin typeface="Segoe UI"/>
              </a:defRPr>
            </a:pPr>
            <a:r>
              <a:t>• Simple 1-tap cart and secure checkout with UPI</a:t>
            </a:r>
          </a:p>
          <a:p>
            <a:pPr>
              <a:spcBef>
                <a:spcPts val="1600"/>
              </a:spcBef>
              <a:defRPr sz="1600">
                <a:solidFill>
                  <a:srgbClr val="232F28"/>
                </a:solidFill>
                <a:latin typeface="Segoe UI"/>
              </a:defRPr>
            </a:pPr>
            <a:r>
              <a:t>• Local vendor identity and farm stories front and center</a:t>
            </a:r>
          </a:p>
        </p:txBody>
      </p:sp>
      <p:pic>
        <p:nvPicPr>
          <p:cNvPr id="6" name="Picture 5" descr="art_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4114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Application Architecture &amp; 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7132320" cy="114300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5336"/>
                </a:solidFill>
                <a:latin typeface="Segoe UI"/>
              </a:defRPr>
            </a:pPr>
            <a:r>
              <a:t>CUSTOMER PWA • SELLER PORTAL</a:t>
            </a:r>
          </a:p>
          <a:p>
            <a:pPr algn="ctr">
              <a:defRPr sz="1200">
                <a:solidFill>
                  <a:srgbClr val="646E69"/>
                </a:solidFill>
                <a:latin typeface="Segoe UI"/>
              </a:defRPr>
            </a:pPr>
            <a:r>
              <a:t>React 19 • TypeScript • Responsive Viewport • Tailwind CSS • Vite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971800"/>
            <a:ext cx="73152" cy="3200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7132320" cy="118872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86A33"/>
                </a:solidFill>
                <a:latin typeface="Segoe UI"/>
              </a:defRPr>
            </a:pPr>
            <a:r>
              <a:t>API &amp; BACKEND SERVICES</a:t>
            </a:r>
          </a:p>
          <a:p>
            <a:pPr algn="ctr">
              <a:defRPr sz="1200">
                <a:solidFill>
                  <a:srgbClr val="646E69"/>
                </a:solidFill>
                <a:latin typeface="Segoe UI"/>
              </a:defRPr>
            </a:pPr>
            <a:r>
              <a:t>Product Catalog • Live Orders • Geo-Distance Engine • Merchant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4480560"/>
            <a:ext cx="73152" cy="3200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800600"/>
            <a:ext cx="7132320" cy="114300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5336"/>
                </a:solidFill>
                <a:latin typeface="Segoe UI"/>
              </a:defRPr>
            </a:pPr>
            <a:r>
              <a:t>DATABASE &amp; STORAGE</a:t>
            </a:r>
          </a:p>
          <a:p>
            <a:pPr algn="ctr">
              <a:defRPr sz="1200">
                <a:solidFill>
                  <a:srgbClr val="646E69"/>
                </a:solidFill>
                <a:latin typeface="Segoe UI"/>
              </a:defRPr>
            </a:pPr>
            <a:r>
              <a:t>Categories • Products • Orders &amp; Line Items • Sellers • Inventory Locks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955279" y="2651760"/>
            <a:ext cx="1005841" cy="1188720"/>
          </a:xfrm>
          <a:prstGeom prst="line">
            <a:avLst/>
          </a:prstGeom>
          <a:ln w="31750">
            <a:solidFill>
              <a:srgbClr val="1E5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79" y="3840480"/>
            <a:ext cx="1005841" cy="1005840"/>
          </a:xfrm>
          <a:prstGeom prst="line">
            <a:avLst/>
          </a:prstGeom>
          <a:ln w="31750">
            <a:solidFill>
              <a:srgbClr val="E86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778240" y="2103120"/>
            <a:ext cx="2560320" cy="1371600"/>
          </a:xfrm>
          <a:prstGeom prst="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FFFFFF"/>
                </a:solidFill>
                <a:latin typeface="Segoe UI"/>
              </a:defRPr>
            </a:pPr>
            <a:r>
              <a:t>Payment Gateway</a:t>
            </a:r>
            <a:br/>
            <a:r>
              <a:t>UPI 2.0 • QR • Razorpay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297680"/>
            <a:ext cx="2560320" cy="137160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FFFFFF"/>
                </a:solidFill>
                <a:latin typeface="Segoe UI"/>
              </a:defRPr>
            </a:pPr>
            <a:r>
              <a:t>Delivery Services</a:t>
            </a:r>
            <a:br/>
            <a:r>
              <a:t>Hyperlocal Rider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21792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E5336"/>
                </a:solidFill>
                <a:latin typeface="Segoe UI"/>
              </a:defRPr>
            </a:pPr>
            <a:r>
              <a:t>Scalable • Robust • Secure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Security &amp; Inventory Reliability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" cy="640080"/>
          </a:xfrm>
          <a:prstGeom prst="round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02996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32F28"/>
                </a:solidFill>
                <a:latin typeface="Segoe UI"/>
              </a:defRPr>
            </a:pPr>
            <a:r>
              <a:t>Secure payments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502920" cy="64008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89864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32F28"/>
                </a:solidFill>
                <a:latin typeface="Segoe UI"/>
              </a:defRPr>
            </a:pPr>
            <a:r>
              <a:t>Verified sellers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57600"/>
            <a:ext cx="502920" cy="640080"/>
          </a:xfrm>
          <a:prstGeom prst="round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76732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32F28"/>
                </a:solidFill>
                <a:latin typeface="Segoe UI"/>
              </a:defRPr>
            </a:pPr>
            <a:r>
              <a:t>Real-time stock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26280"/>
            <a:ext cx="502920" cy="64008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63600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32F28"/>
                </a:solidFill>
                <a:latin typeface="Segoe UI"/>
              </a:defRPr>
            </a:pPr>
            <a:r>
              <a:t>Quality assurance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94960"/>
            <a:ext cx="502920" cy="640080"/>
          </a:xfrm>
          <a:prstGeom prst="round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50468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32F28"/>
                </a:solidFill>
                <a:latin typeface="Segoe UI"/>
              </a:defRPr>
            </a:pPr>
            <a:r>
              <a:t>Customer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920240"/>
            <a:ext cx="4389120" cy="4023360"/>
          </a:xfrm>
          <a:prstGeom prst="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Accurate stock</a:t>
            </a:r>
            <a:br/>
            <a:br/>
            <a:r>
              <a:t>Protected payments</a:t>
            </a:r>
            <a:br/>
            <a:br/>
            <a:r>
              <a:t>Responsive support</a:t>
            </a:r>
            <a:br/>
            <a:br/>
            <a:r>
              <a:t>100% Trust Guarantee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Development Roadmap</a:t>
            </a:r>
          </a:p>
          <a:p>
            <a:pPr>
              <a:spcBef>
                <a:spcPts val="500"/>
              </a:spcBef>
              <a:defRPr sz="1700" b="1">
                <a:solidFill>
                  <a:srgbClr val="E86A33"/>
                </a:solidFill>
                <a:latin typeface="Segoe UI"/>
              </a:defRPr>
            </a:pPr>
            <a:r>
              <a:t>Execution milestones from MVP to citywide community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377440"/>
            <a:ext cx="9418320" cy="73152"/>
          </a:xfrm>
          <a:prstGeom prst="rect">
            <a:avLst/>
          </a:prstGeom>
          <a:solidFill>
            <a:srgbClr val="E1A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2011680"/>
            <a:ext cx="777240" cy="777240"/>
          </a:xfrm>
          <a:prstGeom prst="ellipse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00400"/>
            <a:ext cx="2377440" cy="274320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646E69"/>
                </a:solidFill>
                <a:latin typeface="Segoe UI"/>
              </a:defRPr>
            </a:pPr>
            <a:r>
              <a:t>01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232F28"/>
                </a:solidFill>
                <a:latin typeface="Segoe UI"/>
              </a:defRPr>
            </a:pPr>
            <a:r>
              <a:t>Research &amp; MVP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Hyperlocal catalog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Customer PWA &amp; cart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Pilot vendor testing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2011680"/>
            <a:ext cx="777240" cy="777240"/>
          </a:xfrm>
          <a:prstGeom prst="ellipse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200400"/>
            <a:ext cx="2377440" cy="274320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646E69"/>
                </a:solidFill>
                <a:latin typeface="Segoe UI"/>
              </a:defRPr>
            </a:pPr>
            <a:r>
              <a:t>02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232F28"/>
                </a:solidFill>
                <a:latin typeface="Segoe UI"/>
              </a:defRPr>
            </a:pPr>
            <a:r>
              <a:t>Seller onboarding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Vernacular listing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Direct UPI payout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Merchant inventory app</a:t>
            </a:r>
          </a:p>
        </p:txBody>
      </p:sp>
      <p:sp>
        <p:nvSpPr>
          <p:cNvPr id="10" name="Oval 9"/>
          <p:cNvSpPr/>
          <p:nvPr/>
        </p:nvSpPr>
        <p:spPr>
          <a:xfrm>
            <a:off x="7086600" y="2011680"/>
            <a:ext cx="777240" cy="777240"/>
          </a:xfrm>
          <a:prstGeom prst="ellipse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200400"/>
            <a:ext cx="2377440" cy="274320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646E69"/>
                </a:solidFill>
                <a:latin typeface="Segoe UI"/>
              </a:defRPr>
            </a:pPr>
            <a:r>
              <a:t>03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232F28"/>
                </a:solidFill>
                <a:latin typeface="Segoe UI"/>
              </a:defRPr>
            </a:pPr>
            <a:r>
              <a:t>Enhance &amp; scale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AI price intelligence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Batch route dispatch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Multi-santhe clusters</a:t>
            </a:r>
          </a:p>
        </p:txBody>
      </p:sp>
      <p:sp>
        <p:nvSpPr>
          <p:cNvPr id="12" name="Oval 11"/>
          <p:cNvSpPr/>
          <p:nvPr/>
        </p:nvSpPr>
        <p:spPr>
          <a:xfrm>
            <a:off x="9829800" y="2011680"/>
            <a:ext cx="777240" cy="777240"/>
          </a:xfrm>
          <a:prstGeom prst="ellipse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3200400"/>
            <a:ext cx="2377440" cy="274320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646E69"/>
                </a:solidFill>
                <a:latin typeface="Segoe UI"/>
              </a:defRPr>
            </a:pPr>
            <a:r>
              <a:t>04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232F28"/>
                </a:solidFill>
                <a:latin typeface="Segoe UI"/>
              </a:defRPr>
            </a:pPr>
            <a:r>
              <a:t>Market &amp; engage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ONDC integration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Farmer collectives</a:t>
            </a:r>
          </a:p>
          <a:p>
            <a:pPr>
              <a:spcBef>
                <a:spcPts val="600"/>
              </a:spcBef>
              <a:defRPr sz="1100">
                <a:solidFill>
                  <a:srgbClr val="232F28"/>
                </a:solidFill>
                <a:latin typeface="Segoe UI"/>
              </a:defRPr>
            </a:pPr>
            <a:r>
              <a:t>• Citywide rollout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AI Tools &amp; Tech Stack</a:t>
            </a:r>
          </a:p>
          <a:p>
            <a:pPr>
              <a:spcBef>
                <a:spcPts val="500"/>
              </a:spcBef>
              <a:defRPr sz="1700" b="1">
                <a:solidFill>
                  <a:srgbClr val="E86A33"/>
                </a:solidFill>
                <a:latin typeface="Segoe UI"/>
              </a:defRPr>
            </a:pPr>
            <a:r>
              <a:t>Plan, prototype &amp;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029200" cy="196596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200" b="1">
                <a:solidFill>
                  <a:srgbClr val="E86A33"/>
                </a:solidFill>
                <a:latin typeface="Segoe UI"/>
              </a:defRPr>
            </a:pPr>
            <a:r>
              <a:t>REQUIREMENTS, IDEATION &amp; BRAINSTORMING</a:t>
            </a:r>
          </a:p>
          <a:p>
            <a:pPr>
              <a:spcBef>
                <a:spcPts val="300"/>
              </a:spcBef>
              <a:defRPr sz="1400" b="1">
                <a:solidFill>
                  <a:srgbClr val="1E5336"/>
                </a:solidFill>
                <a:latin typeface="Segoe UI"/>
              </a:defRPr>
            </a:pPr>
            <a:r>
              <a:t>Google AI Studio, Gemini, ChatGPT, Claude</a:t>
            </a:r>
          </a:p>
          <a:p>
            <a:pPr>
              <a:spcBef>
                <a:spcPts val="400"/>
              </a:spcBef>
              <a:defRPr sz="1150">
                <a:solidFill>
                  <a:srgbClr val="232F28"/>
                </a:solidFill>
                <a:latin typeface="Segoe UI"/>
              </a:defRPr>
            </a:pPr>
            <a:r>
              <a:t>Generates PRDs, database schemas, and system architectures. Gathers requirements, outlines business logic, user roles, and hyperlocal discovery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029200" cy="196596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200" b="1">
                <a:solidFill>
                  <a:srgbClr val="E86A33"/>
                </a:solidFill>
                <a:latin typeface="Segoe UI"/>
              </a:defRPr>
            </a:pPr>
            <a:r>
              <a:t>PROTOTYPING &amp; CODING</a:t>
            </a:r>
          </a:p>
          <a:p>
            <a:pPr>
              <a:spcBef>
                <a:spcPts val="300"/>
              </a:spcBef>
              <a:defRPr sz="1400" b="1">
                <a:solidFill>
                  <a:srgbClr val="1E5336"/>
                </a:solidFill>
                <a:latin typeface="Segoe UI"/>
              </a:defRPr>
            </a:pPr>
            <a:r>
              <a:t>Cursor, v0 by Vercel &amp; Lovable</a:t>
            </a:r>
          </a:p>
          <a:p>
            <a:pPr>
              <a:spcBef>
                <a:spcPts val="400"/>
              </a:spcBef>
              <a:defRPr sz="1150">
                <a:solidFill>
                  <a:srgbClr val="232F28"/>
                </a:solidFill>
                <a:latin typeface="Segoe UI"/>
              </a:defRPr>
            </a:pPr>
            <a:r>
              <a:t>Rapidly scaffolds responsive UI components and writes full-stack code. Instantly turns natural language prompts into working user interfaces.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5029200" cy="196596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200" b="1">
                <a:solidFill>
                  <a:srgbClr val="E86A33"/>
                </a:solidFill>
                <a:latin typeface="Segoe UI"/>
              </a:defRPr>
            </a:pPr>
            <a:r>
              <a:t>AGENTIC DEVELOPMENT</a:t>
            </a:r>
          </a:p>
          <a:p>
            <a:pPr>
              <a:spcBef>
                <a:spcPts val="300"/>
              </a:spcBef>
              <a:defRPr sz="1400" b="1">
                <a:solidFill>
                  <a:srgbClr val="1E5336"/>
                </a:solidFill>
                <a:latin typeface="Segoe UI"/>
              </a:defRPr>
            </a:pPr>
            <a:r>
              <a:t>Antigravity &amp; Open Code</a:t>
            </a:r>
          </a:p>
          <a:p>
            <a:pPr>
              <a:spcBef>
                <a:spcPts val="400"/>
              </a:spcBef>
              <a:defRPr sz="1150">
                <a:solidFill>
                  <a:srgbClr val="232F28"/>
                </a:solidFill>
                <a:latin typeface="Segoe UI"/>
              </a:defRPr>
            </a:pPr>
            <a:r>
              <a:t>Agentic development platforms where AI agents plan, build, run, and test application features and integrations autonomously.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029200" cy="196596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200" b="1">
                <a:solidFill>
                  <a:srgbClr val="E86A33"/>
                </a:solidFill>
                <a:latin typeface="Segoe UI"/>
              </a:defRPr>
            </a:pPr>
            <a:r>
              <a:t>ANALYTICS &amp; INTELLIGENCE</a:t>
            </a:r>
          </a:p>
          <a:p>
            <a:pPr>
              <a:spcBef>
                <a:spcPts val="300"/>
              </a:spcBef>
              <a:defRPr sz="1400" b="1">
                <a:solidFill>
                  <a:srgbClr val="1E5336"/>
                </a:solidFill>
                <a:latin typeface="Segoe UI"/>
              </a:defRPr>
            </a:pPr>
            <a:r>
              <a:t>Gemini API</a:t>
            </a:r>
          </a:p>
          <a:p>
            <a:pPr>
              <a:spcBef>
                <a:spcPts val="400"/>
              </a:spcBef>
              <a:defRPr sz="1150">
                <a:solidFill>
                  <a:srgbClr val="232F28"/>
                </a:solidFill>
                <a:latin typeface="Segoe UI"/>
              </a:defRPr>
            </a:pPr>
            <a:r>
              <a:t>Powers smart personalized product recommendations, vernacular voice search understanding, and bilingual Kannada-English catalog translation.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5336"/>
                </a:solidFill>
                <a:latin typeface="Segoe UI"/>
              </a:defRPr>
            </a:pPr>
            <a:r>
              <a:t>AI Tools &amp; Tech Stack</a:t>
            </a:r>
          </a:p>
          <a:p>
            <a:pPr>
              <a:spcBef>
                <a:spcPts val="500"/>
              </a:spcBef>
              <a:defRPr sz="1700" b="1">
                <a:solidFill>
                  <a:srgbClr val="E86A33"/>
                </a:solidFill>
                <a:latin typeface="Segoe UI"/>
              </a:defRPr>
            </a:pPr>
            <a:r>
              <a:t>Test, document, design &amp;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029200" cy="196596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200" b="1">
                <a:solidFill>
                  <a:srgbClr val="E86A33"/>
                </a:solidFill>
                <a:latin typeface="Segoe UI"/>
              </a:defRPr>
            </a:pPr>
            <a:r>
              <a:t>TESTING &amp; DEPLOYMENT</a:t>
            </a:r>
          </a:p>
          <a:p>
            <a:pPr>
              <a:spcBef>
                <a:spcPts val="300"/>
              </a:spcBef>
              <a:defRPr sz="1400" b="1">
                <a:solidFill>
                  <a:srgbClr val="1E5336"/>
                </a:solidFill>
                <a:latin typeface="Segoe UI"/>
              </a:defRPr>
            </a:pPr>
            <a:r>
              <a:t>CodiumAI, Oxlint &amp; Vercel</a:t>
            </a:r>
          </a:p>
          <a:p>
            <a:pPr>
              <a:spcBef>
                <a:spcPts val="400"/>
              </a:spcBef>
              <a:defRPr sz="1150">
                <a:solidFill>
                  <a:srgbClr val="232F28"/>
                </a:solidFill>
                <a:latin typeface="Segoe UI"/>
              </a:defRPr>
            </a:pPr>
            <a:r>
              <a:t>Automatically generates unit tests, runs rapid static code analysis, and streamlines continuous cloud deployment with preview URLs.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029200" cy="196596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200" b="1">
                <a:solidFill>
                  <a:srgbClr val="E86A33"/>
                </a:solidFill>
                <a:latin typeface="Segoe UI"/>
              </a:defRPr>
            </a:pPr>
            <a:r>
              <a:t>RESEARCH &amp; DOCUMENTATION</a:t>
            </a:r>
          </a:p>
          <a:p>
            <a:pPr>
              <a:spcBef>
                <a:spcPts val="300"/>
              </a:spcBef>
              <a:defRPr sz="1400" b="1">
                <a:solidFill>
                  <a:srgbClr val="1E5336"/>
                </a:solidFill>
                <a:latin typeface="Segoe UI"/>
              </a:defRPr>
            </a:pPr>
            <a:r>
              <a:t>Obsidian &amp; Gravity Write</a:t>
            </a:r>
          </a:p>
          <a:p>
            <a:pPr>
              <a:spcBef>
                <a:spcPts val="400"/>
              </a:spcBef>
              <a:defRPr sz="1150">
                <a:solidFill>
                  <a:srgbClr val="232F28"/>
                </a:solidFill>
                <a:latin typeface="Segoe UI"/>
              </a:defRPr>
            </a:pPr>
            <a:r>
              <a:t>Obsidian organizes hyper-local research notes, market studies, and architectural docs. Gravity Write generates crisp customer-facing copy.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5029200" cy="1965960"/>
          </a:xfrm>
          <a:prstGeom prst="rect">
            <a:avLst/>
          </a:prstGeom>
          <a:solidFill>
            <a:srgbClr val="D9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200" b="1">
                <a:solidFill>
                  <a:srgbClr val="E86A33"/>
                </a:solidFill>
                <a:latin typeface="Segoe UI"/>
              </a:defRPr>
            </a:pPr>
            <a:r>
              <a:t>DESIGN &amp; VISUAL ASSETS</a:t>
            </a:r>
          </a:p>
          <a:p>
            <a:pPr>
              <a:spcBef>
                <a:spcPts val="300"/>
              </a:spcBef>
              <a:defRPr sz="1400" b="1">
                <a:solidFill>
                  <a:srgbClr val="1E5336"/>
                </a:solidFill>
                <a:latin typeface="Segoe UI"/>
              </a:defRPr>
            </a:pPr>
            <a:r>
              <a:t>Canva &amp; Generative AI Studio</a:t>
            </a:r>
          </a:p>
          <a:p>
            <a:pPr>
              <a:spcBef>
                <a:spcPts val="400"/>
              </a:spcBef>
              <a:defRPr sz="1150">
                <a:solidFill>
                  <a:srgbClr val="232F28"/>
                </a:solidFill>
                <a:latin typeface="Segoe UI"/>
              </a:defRPr>
            </a:pPr>
            <a:r>
              <a:t>Designs branding identities, logos, santhe market illustrations, and high-fidelity promotional banners.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029200" cy="1965960"/>
          </a:xfrm>
          <a:prstGeom prst="rect">
            <a:avLst/>
          </a:prstGeom>
          <a:solidFill>
            <a:srgbClr val="F4D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200" b="1">
                <a:solidFill>
                  <a:srgbClr val="E86A33"/>
                </a:solidFill>
                <a:latin typeface="Segoe UI"/>
              </a:defRPr>
            </a:pPr>
            <a:r>
              <a:t>MANAGEMENT &amp; VERSION CONTROL</a:t>
            </a:r>
          </a:p>
          <a:p>
            <a:pPr>
              <a:spcBef>
                <a:spcPts val="300"/>
              </a:spcBef>
              <a:defRPr sz="1400" b="1">
                <a:solidFill>
                  <a:srgbClr val="1E5336"/>
                </a:solidFill>
                <a:latin typeface="Segoe UI"/>
              </a:defRPr>
            </a:pPr>
            <a:r>
              <a:t>GitHub</a:t>
            </a:r>
          </a:p>
          <a:p>
            <a:pPr>
              <a:spcBef>
                <a:spcPts val="400"/>
              </a:spcBef>
              <a:defRPr sz="1150">
                <a:solidFill>
                  <a:srgbClr val="232F28"/>
                </a:solidFill>
                <a:latin typeface="Segoe UI"/>
              </a:defRPr>
            </a:pPr>
            <a:r>
              <a:t>Handles source code tracking, branch protection rules, issue prioritization, and automated pairing workflows.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_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0"/>
            <a:ext cx="4700016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71600"/>
            <a:ext cx="62179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5336"/>
                </a:solidFill>
                <a:latin typeface="Segoe UI"/>
              </a:defRPr>
            </a:pPr>
            <a:r>
              <a:t>Support Local. Shop Local.</a:t>
            </a:r>
            <a:br/>
            <a:r>
              <a:t>Grow Local.</a:t>
            </a:r>
          </a:p>
          <a:p>
            <a:pPr>
              <a:spcBef>
                <a:spcPts val="1600"/>
              </a:spcBef>
              <a:defRPr sz="2200" b="1">
                <a:solidFill>
                  <a:srgbClr val="E86A33"/>
                </a:solidFill>
                <a:latin typeface="Nirmala UI"/>
              </a:defRPr>
            </a:pPr>
            <a:r>
              <a:t>ಸ್ಥಳೀಯವನ್ನು ಬೆಂಬಲಿಸಿ. ಸ್ಥಳೀಯವಾಗಿ ಖರೀದಿಸಿ.</a:t>
            </a:r>
            <a:br/>
            <a:r>
              <a:t>ಒಟ್ಟಾಗಿ ಬೆಳೆಯೋಣ.</a:t>
            </a:r>
          </a:p>
          <a:p>
            <a:pPr>
              <a:spcBef>
                <a:spcPts val="2800"/>
              </a:spcBef>
              <a:defRPr sz="1400">
                <a:solidFill>
                  <a:srgbClr val="646E69"/>
                </a:solidFill>
                <a:latin typeface="Segoe UI"/>
              </a:defRPr>
            </a:pPr>
            <a:r>
              <a:t>Support local businesses • Increase farmer incomes</a:t>
            </a:r>
            <a:br/>
            <a:r>
              <a:t>Reduce food waste • Build community resilience</a:t>
            </a:r>
          </a:p>
          <a:p>
            <a:pPr>
              <a:spcBef>
                <a:spcPts val="4500"/>
              </a:spcBef>
              <a:defRPr sz="2200" b="1">
                <a:solidFill>
                  <a:srgbClr val="1E5336"/>
                </a:solidFill>
                <a:latin typeface="Segoe UI"/>
              </a:defRPr>
            </a:pPr>
            <a:r>
              <a:t>| Thank you</a:t>
            </a:r>
          </a:p>
          <a:p>
            <a:pPr>
              <a:spcBef>
                <a:spcPts val="600"/>
              </a:spcBef>
              <a:defRPr sz="1400" b="1">
                <a:solidFill>
                  <a:srgbClr val="646E69"/>
                </a:solidFill>
                <a:latin typeface="Segoe UI"/>
              </a:defRPr>
            </a:pPr>
            <a:r>
              <a:t>TEAM HEXAPLUSE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